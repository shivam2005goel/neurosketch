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6840"/>
  <p:notesSz cx="6856840" cy="12192000"/>
  <p:embeddedFontLst>
    <p:embeddedFont>
      <p:font typeface="MiSans" charset="-122" pitchFamily="34"/>
      <p:regular r:id="rId20"/>
    </p:embeddedFont>
    <p:embeddedFont>
      <p:font typeface="Noto Sans SC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3e0471b29bf631923a14f8ca50892a2f9effb384.jp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87" b="87"/>
          <a:stretch/>
        </p:blipFill>
        <p:spPr>
          <a:xfrm>
            <a:off x="5485501" y="1886443"/>
            <a:ext cx="6708384" cy="308047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840"/>
          </a:xfrm>
          <a:custGeom>
            <a:avLst/>
            <a:gdLst/>
            <a:ahLst/>
            <a:cxnLst/>
            <a:rect l="l" t="t" r="r" b="b"/>
            <a:pathLst>
              <a:path w="12192000" h="6856840">
                <a:moveTo>
                  <a:pt x="0" y="0"/>
                </a:moveTo>
                <a:lnTo>
                  <a:pt x="12192000" y="0"/>
                </a:lnTo>
                <a:lnTo>
                  <a:pt x="12192000" y="6856840"/>
                </a:lnTo>
                <a:lnTo>
                  <a:pt x="0" y="685684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1A"/>
              </a:gs>
              <a:gs pos="50000">
                <a:srgbClr val="0A0A1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1142" y="445370"/>
            <a:ext cx="11510027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spc="292" kern="0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LOGITECH DEVSTUDIO CHALLENGE 2025 • STYLUS IN XR CATEGORY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1142" y="329388"/>
            <a:ext cx="11960037" cy="2913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037" b="1" spc="-201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Neuro Sketch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8037" b="1" spc="-201" kern="0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XR 2.0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1142" y="3535123"/>
            <a:ext cx="927854" cy="46393"/>
          </a:xfrm>
          <a:custGeom>
            <a:avLst/>
            <a:gdLst/>
            <a:ahLst/>
            <a:cxnLst/>
            <a:rect l="l" t="t" r="r" b="b"/>
            <a:pathLst>
              <a:path w="927854" h="46393">
                <a:moveTo>
                  <a:pt x="0" y="0"/>
                </a:moveTo>
                <a:lnTo>
                  <a:pt x="927854" y="0"/>
                </a:lnTo>
                <a:lnTo>
                  <a:pt x="927854" y="46393"/>
                </a:lnTo>
                <a:lnTo>
                  <a:pt x="0" y="46393"/>
                </a:lnTo>
                <a:lnTo>
                  <a:pt x="0" y="0"/>
                </a:lnTo>
                <a:close/>
              </a:path>
            </a:pathLst>
          </a:custGeom>
          <a:solidFill>
            <a:srgbClr val="00F5FF"/>
          </a:solidFill>
          <a:ln/>
          <a:effectLst>
            <a:outerShdw sx="100000" sy="100000" kx="0" ky="0" algn="bl" rotWithShape="0" blurRad="185571" dist="50800" dir="2700000">
              <a:srgbClr val="00f5ff">
                <a:alpha val="8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71142" y="3804201"/>
            <a:ext cx="4750612" cy="7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53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"Not just a training tool.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753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new way humanity understands the brain."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1142" y="4750612"/>
            <a:ext cx="4537205" cy="54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World's First AI-Powered Mixed Reality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Neurosurgical Intelligence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1142" y="6119196"/>
            <a:ext cx="2273242" cy="19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LOGIC WAALE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1142" y="6583123"/>
            <a:ext cx="2273242" cy="19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February 2025</a:t>
            </a:r>
            <a:endParaRPr lang="en-US" sz="1600" dirty="0"/>
          </a:p>
        </p:txBody>
      </p:sp>
      <p:pic>
        <p:nvPicPr>
          <p:cNvPr id="11" name="Image 1" descr="https://kimi-web-img.moonshot.cn/img/resource.logitech.com/8e295824a4d4293fe8566c1258602f15eb0cb487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0" b="0"/>
          <a:stretch/>
        </p:blipFill>
        <p:spPr>
          <a:xfrm>
            <a:off x="2780903" y="1567386"/>
            <a:ext cx="5409197" cy="5409197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spc="300" kern="0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CRISIS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7175" y="666750"/>
            <a:ext cx="116776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SILENT CRISIS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INSIDE MEDICINE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4413" y="2243138"/>
            <a:ext cx="3228975" cy="3038475"/>
          </a:xfrm>
          <a:custGeom>
            <a:avLst/>
            <a:gdLst/>
            <a:ahLst/>
            <a:cxnLst/>
            <a:rect l="l" t="t" r="r" b="b"/>
            <a:pathLst>
              <a:path w="3228975" h="3038475">
                <a:moveTo>
                  <a:pt x="114307" y="0"/>
                </a:moveTo>
                <a:lnTo>
                  <a:pt x="3114668" y="0"/>
                </a:lnTo>
                <a:cubicBezTo>
                  <a:pt x="3177798" y="0"/>
                  <a:pt x="3228975" y="51177"/>
                  <a:pt x="3228975" y="114307"/>
                </a:cubicBezTo>
                <a:lnTo>
                  <a:pt x="3228975" y="2924168"/>
                </a:lnTo>
                <a:cubicBezTo>
                  <a:pt x="3228975" y="2987298"/>
                  <a:pt x="3177798" y="3038475"/>
                  <a:pt x="3114668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A0A0F"/>
          </a:solidFill>
          <a:ln w="12700">
            <a:solidFill>
              <a:srgbClr val="FF3366">
                <a:alpha val="3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23975" y="2552700"/>
            <a:ext cx="2952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33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250,000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3975" y="3352800"/>
            <a:ext cx="2695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Americans die annually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3975" y="3724275"/>
            <a:ext cx="267652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preventable medical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errors — many traced 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inadequate surgical training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3975" y="4814888"/>
            <a:ext cx="26622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25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Source: Institute of Medicine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81513" y="2243138"/>
            <a:ext cx="3228975" cy="3038475"/>
          </a:xfrm>
          <a:custGeom>
            <a:avLst/>
            <a:gdLst/>
            <a:ahLst/>
            <a:cxnLst/>
            <a:rect l="l" t="t" r="r" b="b"/>
            <a:pathLst>
              <a:path w="3228975" h="3038475">
                <a:moveTo>
                  <a:pt x="114307" y="0"/>
                </a:moveTo>
                <a:lnTo>
                  <a:pt x="3114668" y="0"/>
                </a:lnTo>
                <a:cubicBezTo>
                  <a:pt x="3177798" y="0"/>
                  <a:pt x="3228975" y="51177"/>
                  <a:pt x="3228975" y="114307"/>
                </a:cubicBezTo>
                <a:lnTo>
                  <a:pt x="3228975" y="2924168"/>
                </a:lnTo>
                <a:cubicBezTo>
                  <a:pt x="3228975" y="2987298"/>
                  <a:pt x="3177798" y="3038475"/>
                  <a:pt x="3114668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A0A0F"/>
          </a:solidFill>
          <a:ln w="12700">
            <a:solidFill>
              <a:srgbClr val="FF3366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075" y="2552700"/>
            <a:ext cx="2952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33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91075" y="3352800"/>
            <a:ext cx="2695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Years of residency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91075" y="3724275"/>
            <a:ext cx="267652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 a neurosurgery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resident touches a real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brain independently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91075" y="4814888"/>
            <a:ext cx="26622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25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Source: ACGME Training Data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48613" y="2243138"/>
            <a:ext cx="3228975" cy="3038475"/>
          </a:xfrm>
          <a:custGeom>
            <a:avLst/>
            <a:gdLst/>
            <a:ahLst/>
            <a:cxnLst/>
            <a:rect l="l" t="t" r="r" b="b"/>
            <a:pathLst>
              <a:path w="3228975" h="3038475">
                <a:moveTo>
                  <a:pt x="114307" y="0"/>
                </a:moveTo>
                <a:lnTo>
                  <a:pt x="3114668" y="0"/>
                </a:lnTo>
                <a:cubicBezTo>
                  <a:pt x="3177798" y="0"/>
                  <a:pt x="3228975" y="51177"/>
                  <a:pt x="3228975" y="114307"/>
                </a:cubicBezTo>
                <a:lnTo>
                  <a:pt x="3228975" y="2924168"/>
                </a:lnTo>
                <a:cubicBezTo>
                  <a:pt x="3228975" y="2987298"/>
                  <a:pt x="3177798" y="3038475"/>
                  <a:pt x="3114668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A0A0F"/>
          </a:solidFill>
          <a:ln w="12700">
            <a:solidFill>
              <a:srgbClr val="FF3366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58175" y="2552700"/>
            <a:ext cx="2952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33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98%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58175" y="3352800"/>
            <a:ext cx="2695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medical XR apps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58175" y="3724275"/>
            <a:ext cx="267652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game controllers —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precision instruments.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Like painting with a brick.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58175" y="4814888"/>
            <a:ext cx="26622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25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Source: XR Health Market Survey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1000" y="5629275"/>
            <a:ext cx="11430000" cy="847725"/>
          </a:xfrm>
          <a:custGeom>
            <a:avLst/>
            <a:gdLst/>
            <a:ahLst/>
            <a:cxnLst/>
            <a:rect l="l" t="t" r="r" b="b"/>
            <a:pathLst>
              <a:path w="11430000" h="847725">
                <a:moveTo>
                  <a:pt x="0" y="0"/>
                </a:moveTo>
                <a:lnTo>
                  <a:pt x="11430000" y="0"/>
                </a:lnTo>
                <a:lnTo>
                  <a:pt x="114300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solidFill>
            <a:srgbClr val="1A0005"/>
          </a:solidFill>
          <a:ln/>
        </p:spPr>
      </p:sp>
      <p:sp>
        <p:nvSpPr>
          <p:cNvPr id="21" name="Shape 18"/>
          <p:cNvSpPr/>
          <p:nvPr/>
        </p:nvSpPr>
        <p:spPr>
          <a:xfrm>
            <a:off x="381000" y="5629275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22" name="Text 19"/>
          <p:cNvSpPr/>
          <p:nvPr/>
        </p:nvSpPr>
        <p:spPr>
          <a:xfrm>
            <a:off x="3319611" y="5772150"/>
            <a:ext cx="5553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"We send pilots into simulators before they fly.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send surgeons into real brains with a textbook and a prayer."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225" y="381000"/>
            <a:ext cx="11639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NOTHING HAS FIXED THIS YET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09575" y="136683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02" y="209550"/>
                  <a:pt x="209550" y="162602"/>
                  <a:pt x="209550" y="104775"/>
                </a:cubicBezTo>
                <a:cubicBezTo>
                  <a:pt x="209550" y="46948"/>
                  <a:pt x="162602" y="0"/>
                  <a:pt x="104775" y="0"/>
                </a:cubicBezTo>
                <a:cubicBezTo>
                  <a:pt x="46948" y="0"/>
                  <a:pt x="0" y="46948"/>
                  <a:pt x="0" y="104775"/>
                </a:cubicBezTo>
                <a:cubicBezTo>
                  <a:pt x="0" y="162602"/>
                  <a:pt x="46948" y="209550"/>
                  <a:pt x="104775" y="209550"/>
                </a:cubicBezTo>
                <a:close/>
                <a:moveTo>
                  <a:pt x="68349" y="68349"/>
                </a:moveTo>
                <a:cubicBezTo>
                  <a:pt x="72197" y="64502"/>
                  <a:pt x="78418" y="64502"/>
                  <a:pt x="82224" y="68349"/>
                </a:cubicBezTo>
                <a:lnTo>
                  <a:pt x="104734" y="90860"/>
                </a:lnTo>
                <a:lnTo>
                  <a:pt x="127244" y="68349"/>
                </a:lnTo>
                <a:cubicBezTo>
                  <a:pt x="131092" y="64502"/>
                  <a:pt x="137313" y="64502"/>
                  <a:pt x="141119" y="68349"/>
                </a:cubicBezTo>
                <a:cubicBezTo>
                  <a:pt x="144925" y="72197"/>
                  <a:pt x="144966" y="78418"/>
                  <a:pt x="141119" y="82224"/>
                </a:cubicBezTo>
                <a:lnTo>
                  <a:pt x="118609" y="104734"/>
                </a:lnTo>
                <a:lnTo>
                  <a:pt x="141119" y="127244"/>
                </a:lnTo>
                <a:cubicBezTo>
                  <a:pt x="144966" y="131092"/>
                  <a:pt x="144966" y="137313"/>
                  <a:pt x="141119" y="141119"/>
                </a:cubicBezTo>
                <a:cubicBezTo>
                  <a:pt x="137272" y="144925"/>
                  <a:pt x="131051" y="144966"/>
                  <a:pt x="127244" y="141119"/>
                </a:cubicBezTo>
                <a:lnTo>
                  <a:pt x="104734" y="118609"/>
                </a:lnTo>
                <a:lnTo>
                  <a:pt x="82224" y="141119"/>
                </a:lnTo>
                <a:cubicBezTo>
                  <a:pt x="78377" y="144966"/>
                  <a:pt x="72156" y="144966"/>
                  <a:pt x="68349" y="141119"/>
                </a:cubicBezTo>
                <a:cubicBezTo>
                  <a:pt x="64543" y="137272"/>
                  <a:pt x="64502" y="131051"/>
                  <a:pt x="68349" y="127244"/>
                </a:cubicBezTo>
                <a:lnTo>
                  <a:pt x="90860" y="104734"/>
                </a:lnTo>
                <a:lnTo>
                  <a:pt x="68349" y="82224"/>
                </a:lnTo>
                <a:cubicBezTo>
                  <a:pt x="64502" y="78377"/>
                  <a:pt x="64502" y="72156"/>
                  <a:pt x="68349" y="68349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4" name="Text 2"/>
          <p:cNvSpPr/>
          <p:nvPr/>
        </p:nvSpPr>
        <p:spPr>
          <a:xfrm>
            <a:off x="647700" y="1314450"/>
            <a:ext cx="523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F33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OLD 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895475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9795" y="1857375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 textbooks and flat anatomical diagrams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352675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795" y="2314575"/>
            <a:ext cx="293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Cadavers — static, expensive,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cannot bleed or show disease progression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3000375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795" y="2962275"/>
            <a:ext cx="2505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Plastic mannequins — zero realism,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 complication response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3648075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9795" y="3609975"/>
            <a:ext cx="2790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 apps with game controllers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"Like learning surgery with a TV remote"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" y="4295775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795" y="4257675"/>
            <a:ext cx="261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Geography-locked training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Rural med schools have nothing at all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6475" y="1314450"/>
            <a:ext cx="19050" cy="4124325"/>
          </a:xfrm>
          <a:custGeom>
            <a:avLst/>
            <a:gdLst/>
            <a:ahLst/>
            <a:cxnLst/>
            <a:rect l="l" t="t" r="r" b="b"/>
            <a:pathLst>
              <a:path w="19050" h="4124325">
                <a:moveTo>
                  <a:pt x="0" y="0"/>
                </a:moveTo>
                <a:lnTo>
                  <a:pt x="19050" y="0"/>
                </a:lnTo>
                <a:lnTo>
                  <a:pt x="19050" y="4124325"/>
                </a:lnTo>
                <a:lnTo>
                  <a:pt x="0" y="4124325"/>
                </a:lnTo>
                <a:lnTo>
                  <a:pt x="0" y="0"/>
                </a:lnTo>
                <a:close/>
              </a:path>
            </a:pathLst>
          </a:custGeom>
          <a:solidFill>
            <a:srgbClr val="00F5FF"/>
          </a:solidFill>
          <a:ln/>
        </p:spPr>
      </p:sp>
      <p:pic>
        <p:nvPicPr>
          <p:cNvPr id="16" name="Image 0" descr="https://kimi-web-img.moonshot.cn/img/resource.logitech.com/8e295824a4d4293fe8566c1258602f15eb0cb48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6475" y="3367088"/>
            <a:ext cx="19050" cy="19050"/>
          </a:xfrm>
          <a:prstGeom prst="roundRect">
            <a:avLst>
              <a:gd name="adj" fmla="val 0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6438900" y="136683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02" y="209550"/>
                  <a:pt x="209550" y="162602"/>
                  <a:pt x="209550" y="104775"/>
                </a:cubicBezTo>
                <a:cubicBezTo>
                  <a:pt x="209550" y="46948"/>
                  <a:pt x="162602" y="0"/>
                  <a:pt x="104775" y="0"/>
                </a:cubicBezTo>
                <a:cubicBezTo>
                  <a:pt x="46948" y="0"/>
                  <a:pt x="0" y="46948"/>
                  <a:pt x="0" y="104775"/>
                </a:cubicBezTo>
                <a:cubicBezTo>
                  <a:pt x="0" y="162602"/>
                  <a:pt x="46948" y="209550"/>
                  <a:pt x="104775" y="209550"/>
                </a:cubicBezTo>
                <a:close/>
                <a:moveTo>
                  <a:pt x="139318" y="87053"/>
                </a:moveTo>
                <a:lnTo>
                  <a:pt x="106576" y="139441"/>
                </a:lnTo>
                <a:cubicBezTo>
                  <a:pt x="104857" y="142183"/>
                  <a:pt x="101910" y="143902"/>
                  <a:pt x="98677" y="144066"/>
                </a:cubicBezTo>
                <a:cubicBezTo>
                  <a:pt x="95443" y="144229"/>
                  <a:pt x="92333" y="142756"/>
                  <a:pt x="90409" y="140137"/>
                </a:cubicBezTo>
                <a:lnTo>
                  <a:pt x="70764" y="113943"/>
                </a:lnTo>
                <a:cubicBezTo>
                  <a:pt x="67490" y="109604"/>
                  <a:pt x="68390" y="103465"/>
                  <a:pt x="72729" y="100191"/>
                </a:cubicBezTo>
                <a:cubicBezTo>
                  <a:pt x="77067" y="96917"/>
                  <a:pt x="83206" y="97817"/>
                  <a:pt x="86480" y="102156"/>
                </a:cubicBezTo>
                <a:lnTo>
                  <a:pt x="97531" y="116890"/>
                </a:lnTo>
                <a:lnTo>
                  <a:pt x="122660" y="76658"/>
                </a:lnTo>
                <a:cubicBezTo>
                  <a:pt x="125525" y="72074"/>
                  <a:pt x="131583" y="70641"/>
                  <a:pt x="136208" y="73547"/>
                </a:cubicBezTo>
                <a:cubicBezTo>
                  <a:pt x="140832" y="76453"/>
                  <a:pt x="142224" y="82469"/>
                  <a:pt x="139318" y="87094"/>
                </a:cubicBez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18" name="Text 15"/>
          <p:cNvSpPr/>
          <p:nvPr/>
        </p:nvSpPr>
        <p:spPr>
          <a:xfrm>
            <a:off x="6677025" y="1314450"/>
            <a:ext cx="523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ACTUALLY NEEDED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10325" y="18954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38776" y="185737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spatial hands-on interaction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10325" y="23526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38776" y="2314575"/>
            <a:ext cx="2200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Living physiology that responds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touch in real time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10325" y="30003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38776" y="2962275"/>
            <a:ext cx="237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Pressure-sensitive instrument feel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that mimics real surgical tools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10325" y="36480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38776" y="3609975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tool that feels like a scalpel —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a joystick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10325" y="42957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38776" y="4257675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access — zero geography barrier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every student on Earth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90525" y="5676900"/>
            <a:ext cx="11410950" cy="790575"/>
          </a:xfrm>
          <a:custGeom>
            <a:avLst/>
            <a:gdLst/>
            <a:ahLst/>
            <a:cxnLst/>
            <a:rect l="l" t="t" r="r" b="b"/>
            <a:pathLst>
              <a:path w="11410950" h="790575">
                <a:moveTo>
                  <a:pt x="76204" y="0"/>
                </a:moveTo>
                <a:lnTo>
                  <a:pt x="11334746" y="0"/>
                </a:lnTo>
                <a:cubicBezTo>
                  <a:pt x="11376833" y="0"/>
                  <a:pt x="11410950" y="34117"/>
                  <a:pt x="11410950" y="76204"/>
                </a:cubicBezTo>
                <a:lnTo>
                  <a:pt x="11410950" y="714371"/>
                </a:lnTo>
                <a:cubicBezTo>
                  <a:pt x="11410950" y="756458"/>
                  <a:pt x="11376833" y="790575"/>
                  <a:pt x="113347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0A3A"/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263" y="5915025"/>
            <a:ext cx="11039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missing piece was never the software. It was the </a:t>
            </a:r>
            <a:pPr algn="ctr">
              <a:lnSpc>
                <a:spcPct val="130000"/>
              </a:lnSpc>
            </a:pPr>
            <a:r>
              <a:rPr lang="en-US" sz="165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hardware</a:t>
            </a:r>
            <a:pPr algn="ctr">
              <a:lnSpc>
                <a:spcPct val="130000"/>
              </a:lnSpc>
            </a:pPr>
            <a:r>
              <a:rPr lang="en-US" sz="16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4635579c9089e792632b58a7c1413e50e062706.jp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-84024" y="-342488"/>
            <a:ext cx="12153379" cy="812757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3595687" y="255324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F5FF">
                  <a:alpha val="10000"/>
                </a:srgbClr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1"/>
          <p:cNvSpPr/>
          <p:nvPr/>
        </p:nvSpPr>
        <p:spPr>
          <a:xfrm>
            <a:off x="5244033" y="711398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450" kern="0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13905" y="1168598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NeuroSketch XR 2.0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2013" y="2773561"/>
            <a:ext cx="3276600" cy="2228850"/>
          </a:xfrm>
          <a:custGeom>
            <a:avLst/>
            <a:gdLst/>
            <a:ahLst/>
            <a:cxnLst/>
            <a:rect l="l" t="t" r="r" b="b"/>
            <a:pathLst>
              <a:path w="3276600" h="2228850">
                <a:moveTo>
                  <a:pt x="114295" y="0"/>
                </a:moveTo>
                <a:lnTo>
                  <a:pt x="3162305" y="0"/>
                </a:lnTo>
                <a:cubicBezTo>
                  <a:pt x="3225386" y="0"/>
                  <a:pt x="3276600" y="51214"/>
                  <a:pt x="3276600" y="114295"/>
                </a:cubicBezTo>
                <a:lnTo>
                  <a:pt x="3276600" y="2114555"/>
                </a:lnTo>
                <a:cubicBezTo>
                  <a:pt x="3276600" y="2177636"/>
                  <a:pt x="3225386" y="2228850"/>
                  <a:pt x="3162305" y="2228850"/>
                </a:cubicBezTo>
                <a:lnTo>
                  <a:pt x="114295" y="2228850"/>
                </a:lnTo>
                <a:cubicBezTo>
                  <a:pt x="51214" y="2228850"/>
                  <a:pt x="0" y="2177636"/>
                  <a:pt x="0" y="211455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01F5FF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5375" y="3006923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🔬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5375" y="3578423"/>
            <a:ext cx="290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5375" y="3940373"/>
            <a:ext cx="2809875" cy="19050"/>
          </a:xfrm>
          <a:custGeom>
            <a:avLst/>
            <a:gdLst/>
            <a:ahLst/>
            <a:cxnLst/>
            <a:rect l="l" t="t" r="r" b="b"/>
            <a:pathLst>
              <a:path w="2809875" h="19050">
                <a:moveTo>
                  <a:pt x="0" y="0"/>
                </a:moveTo>
                <a:lnTo>
                  <a:pt x="2809875" y="0"/>
                </a:lnTo>
                <a:lnTo>
                  <a:pt x="28098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1F5FF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95375" y="4073723"/>
            <a:ext cx="2881313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Explore the living brain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any scale — hemisphere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individual synapse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56063" y="2773561"/>
            <a:ext cx="3276600" cy="2228850"/>
          </a:xfrm>
          <a:custGeom>
            <a:avLst/>
            <a:gdLst/>
            <a:ahLst/>
            <a:cxnLst/>
            <a:rect l="l" t="t" r="r" b="b"/>
            <a:pathLst>
              <a:path w="3276600" h="2228850">
                <a:moveTo>
                  <a:pt x="114295" y="0"/>
                </a:moveTo>
                <a:lnTo>
                  <a:pt x="3162305" y="0"/>
                </a:lnTo>
                <a:cubicBezTo>
                  <a:pt x="3225386" y="0"/>
                  <a:pt x="3276600" y="51214"/>
                  <a:pt x="3276600" y="114295"/>
                </a:cubicBezTo>
                <a:lnTo>
                  <a:pt x="3276600" y="2114555"/>
                </a:lnTo>
                <a:cubicBezTo>
                  <a:pt x="3276600" y="2177636"/>
                  <a:pt x="3225386" y="2228850"/>
                  <a:pt x="3162305" y="2228850"/>
                </a:cubicBezTo>
                <a:lnTo>
                  <a:pt x="114295" y="2228850"/>
                </a:lnTo>
                <a:cubicBezTo>
                  <a:pt x="51214" y="2228850"/>
                  <a:pt x="0" y="2177636"/>
                  <a:pt x="0" y="211455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01F5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9425" y="3006923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⚔️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89425" y="3578423"/>
            <a:ext cx="290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89425" y="3940373"/>
            <a:ext cx="2809875" cy="19050"/>
          </a:xfrm>
          <a:custGeom>
            <a:avLst/>
            <a:gdLst/>
            <a:ahLst/>
            <a:cxnLst/>
            <a:rect l="l" t="t" r="r" b="b"/>
            <a:pathLst>
              <a:path w="2809875" h="19050">
                <a:moveTo>
                  <a:pt x="0" y="0"/>
                </a:moveTo>
                <a:lnTo>
                  <a:pt x="2809875" y="0"/>
                </a:lnTo>
                <a:lnTo>
                  <a:pt x="28098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1F5FF">
              <a:alpha val="4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689425" y="4073723"/>
            <a:ext cx="2881313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real procedures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AI that thinks,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bleeds, and surprises you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50188" y="2773561"/>
            <a:ext cx="3276600" cy="2228850"/>
          </a:xfrm>
          <a:custGeom>
            <a:avLst/>
            <a:gdLst/>
            <a:ahLst/>
            <a:cxnLst/>
            <a:rect l="l" t="t" r="r" b="b"/>
            <a:pathLst>
              <a:path w="3276600" h="2228850">
                <a:moveTo>
                  <a:pt x="114295" y="0"/>
                </a:moveTo>
                <a:lnTo>
                  <a:pt x="3162305" y="0"/>
                </a:lnTo>
                <a:cubicBezTo>
                  <a:pt x="3225386" y="0"/>
                  <a:pt x="3276600" y="51214"/>
                  <a:pt x="3276600" y="114295"/>
                </a:cubicBezTo>
                <a:lnTo>
                  <a:pt x="3276600" y="2114555"/>
                </a:lnTo>
                <a:cubicBezTo>
                  <a:pt x="3276600" y="2177636"/>
                  <a:pt x="3225386" y="2228850"/>
                  <a:pt x="3162305" y="2228850"/>
                </a:cubicBezTo>
                <a:lnTo>
                  <a:pt x="114295" y="2228850"/>
                </a:lnTo>
                <a:cubicBezTo>
                  <a:pt x="51214" y="2228850"/>
                  <a:pt x="0" y="2177636"/>
                  <a:pt x="0" y="211455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01F5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83550" y="3006923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🤝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83550" y="3578423"/>
            <a:ext cx="290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COLLABORATE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283550" y="3940373"/>
            <a:ext cx="2809875" cy="19050"/>
          </a:xfrm>
          <a:custGeom>
            <a:avLst/>
            <a:gdLst/>
            <a:ahLst/>
            <a:cxnLst/>
            <a:rect l="l" t="t" r="r" b="b"/>
            <a:pathLst>
              <a:path w="2809875" h="19050">
                <a:moveTo>
                  <a:pt x="0" y="0"/>
                </a:moveTo>
                <a:lnTo>
                  <a:pt x="2809875" y="0"/>
                </a:lnTo>
                <a:lnTo>
                  <a:pt x="28098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1F5FF">
              <a:alpha val="4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83550" y="4073723"/>
            <a:ext cx="2881313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with experts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anywhere on Earth in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shared MR space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65897" y="5465564"/>
            <a:ext cx="5457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50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"Where the MX Ink stylus becomes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50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world's most sophisticated virtual surgical instrument."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1162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PILLARS. ONE PLATFORM. </a:t>
            </a:r>
            <a:pPr algn="ctr">
              <a:lnSpc>
                <a:spcPct val="130000"/>
              </a:lnSpc>
            </a:pPr>
            <a:r>
              <a:rPr lang="en-US" sz="30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ZERO COMPETITORS.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00050" y="11811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761999"/>
                </a:lnTo>
                <a:cubicBezTo>
                  <a:pt x="11410950" y="804084"/>
                  <a:pt x="11376834" y="838200"/>
                  <a:pt x="11334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181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647700" y="1400175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6292" y="140017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EXPLORER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6292" y="1628775"/>
            <a:ext cx="157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Living Brain Atlas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58263" y="13835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71838" y="13835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67075" y="1383506"/>
            <a:ext cx="5743575" cy="43815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Zoom from hemisphere to synapse. The first dynamically alive brain in mixed reality. Bioluminescent neural firing. Personal MRI import.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29900" y="131445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2" y="0"/>
                </a:moveTo>
                <a:lnTo>
                  <a:pt x="914398" y="0"/>
                </a:lnTo>
                <a:cubicBezTo>
                  <a:pt x="935441" y="0"/>
                  <a:pt x="952500" y="17059"/>
                  <a:pt x="952500" y="38102"/>
                </a:cubicBezTo>
                <a:lnTo>
                  <a:pt x="952500" y="533398"/>
                </a:lnTo>
                <a:cubicBezTo>
                  <a:pt x="952500" y="554441"/>
                  <a:pt x="935441" y="571500"/>
                  <a:pt x="9143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01F5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14668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2508" y="29170"/>
                </a:moveTo>
                <a:cubicBezTo>
                  <a:pt x="62508" y="13075"/>
                  <a:pt x="75582" y="0"/>
                  <a:pt x="91678" y="0"/>
                </a:cubicBezTo>
                <a:lnTo>
                  <a:pt x="104180" y="0"/>
                </a:lnTo>
                <a:cubicBezTo>
                  <a:pt x="113400" y="0"/>
                  <a:pt x="120848" y="7449"/>
                  <a:pt x="120848" y="16669"/>
                </a:cubicBezTo>
                <a:lnTo>
                  <a:pt x="120848" y="250031"/>
                </a:lnTo>
                <a:cubicBezTo>
                  <a:pt x="120848" y="259251"/>
                  <a:pt x="113400" y="266700"/>
                  <a:pt x="104180" y="266700"/>
                </a:cubicBezTo>
                <a:lnTo>
                  <a:pt x="87511" y="266700"/>
                </a:lnTo>
                <a:cubicBezTo>
                  <a:pt x="71988" y="266700"/>
                  <a:pt x="58914" y="256074"/>
                  <a:pt x="55215" y="241697"/>
                </a:cubicBezTo>
                <a:cubicBezTo>
                  <a:pt x="54851" y="241697"/>
                  <a:pt x="54538" y="241697"/>
                  <a:pt x="54173" y="241697"/>
                </a:cubicBezTo>
                <a:cubicBezTo>
                  <a:pt x="31150" y="241697"/>
                  <a:pt x="12502" y="223049"/>
                  <a:pt x="12502" y="200025"/>
                </a:cubicBezTo>
                <a:cubicBezTo>
                  <a:pt x="12502" y="190649"/>
                  <a:pt x="15627" y="182002"/>
                  <a:pt x="20836" y="175022"/>
                </a:cubicBezTo>
                <a:cubicBezTo>
                  <a:pt x="10731" y="167417"/>
                  <a:pt x="4167" y="155332"/>
                  <a:pt x="4167" y="141684"/>
                </a:cubicBezTo>
                <a:cubicBezTo>
                  <a:pt x="4167" y="125589"/>
                  <a:pt x="13335" y="111576"/>
                  <a:pt x="26670" y="104648"/>
                </a:cubicBezTo>
                <a:cubicBezTo>
                  <a:pt x="22972" y="98398"/>
                  <a:pt x="20836" y="91105"/>
                  <a:pt x="20836" y="83344"/>
                </a:cubicBezTo>
                <a:cubicBezTo>
                  <a:pt x="20836" y="60320"/>
                  <a:pt x="39484" y="41672"/>
                  <a:pt x="62508" y="41672"/>
                </a:cubicBezTo>
                <a:lnTo>
                  <a:pt x="62508" y="29170"/>
                </a:lnTo>
                <a:close/>
                <a:moveTo>
                  <a:pt x="204192" y="29170"/>
                </a:moveTo>
                <a:lnTo>
                  <a:pt x="204192" y="41672"/>
                </a:lnTo>
                <a:cubicBezTo>
                  <a:pt x="227216" y="41672"/>
                  <a:pt x="245864" y="60320"/>
                  <a:pt x="245864" y="83344"/>
                </a:cubicBezTo>
                <a:cubicBezTo>
                  <a:pt x="245864" y="91157"/>
                  <a:pt x="243728" y="98450"/>
                  <a:pt x="240030" y="104648"/>
                </a:cubicBezTo>
                <a:cubicBezTo>
                  <a:pt x="253417" y="111576"/>
                  <a:pt x="262533" y="125537"/>
                  <a:pt x="262533" y="141684"/>
                </a:cubicBezTo>
                <a:cubicBezTo>
                  <a:pt x="262533" y="155332"/>
                  <a:pt x="255969" y="167417"/>
                  <a:pt x="245864" y="175022"/>
                </a:cubicBezTo>
                <a:cubicBezTo>
                  <a:pt x="251073" y="182002"/>
                  <a:pt x="254198" y="190649"/>
                  <a:pt x="254198" y="200025"/>
                </a:cubicBezTo>
                <a:cubicBezTo>
                  <a:pt x="254198" y="223049"/>
                  <a:pt x="235550" y="241697"/>
                  <a:pt x="212527" y="241697"/>
                </a:cubicBezTo>
                <a:cubicBezTo>
                  <a:pt x="212162" y="241697"/>
                  <a:pt x="211849" y="241697"/>
                  <a:pt x="211485" y="241697"/>
                </a:cubicBezTo>
                <a:cubicBezTo>
                  <a:pt x="207786" y="256074"/>
                  <a:pt x="194712" y="266700"/>
                  <a:pt x="179189" y="266700"/>
                </a:cubicBezTo>
                <a:lnTo>
                  <a:pt x="162520" y="266700"/>
                </a:lnTo>
                <a:cubicBezTo>
                  <a:pt x="153300" y="266700"/>
                  <a:pt x="145852" y="259251"/>
                  <a:pt x="145852" y="250031"/>
                </a:cubicBezTo>
                <a:lnTo>
                  <a:pt x="145852" y="16669"/>
                </a:lnTo>
                <a:cubicBezTo>
                  <a:pt x="145852" y="7449"/>
                  <a:pt x="153300" y="0"/>
                  <a:pt x="162520" y="0"/>
                </a:cubicBezTo>
                <a:lnTo>
                  <a:pt x="175022" y="0"/>
                </a:lnTo>
                <a:cubicBezTo>
                  <a:pt x="191118" y="0"/>
                  <a:pt x="204192" y="13075"/>
                  <a:pt x="204192" y="29170"/>
                </a:cubicBez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21336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761999"/>
                </a:lnTo>
                <a:cubicBezTo>
                  <a:pt x="11410950" y="804084"/>
                  <a:pt x="11376834" y="838200"/>
                  <a:pt x="11334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133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7700" y="2352675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⚔️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6292" y="2352675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SURGICAL SIMULATOR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6292" y="2581275"/>
            <a:ext cx="1800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MX Ink = Scalpel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58263" y="23360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71838" y="23360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67075" y="2336006"/>
            <a:ext cx="5743575" cy="43815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full procedures. Pressure-mapped tissue across 14 types. AI complications. Ghost Surgeon overlay. Consequence visualization.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29900" y="226695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2" y="0"/>
                </a:moveTo>
                <a:lnTo>
                  <a:pt x="914398" y="0"/>
                </a:lnTo>
                <a:cubicBezTo>
                  <a:pt x="935441" y="0"/>
                  <a:pt x="952500" y="17059"/>
                  <a:pt x="952500" y="38102"/>
                </a:cubicBezTo>
                <a:lnTo>
                  <a:pt x="952500" y="533398"/>
                </a:lnTo>
                <a:cubicBezTo>
                  <a:pt x="952500" y="554441"/>
                  <a:pt x="935441" y="571500"/>
                  <a:pt x="9143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336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24193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00013" y="133350"/>
                </a:moveTo>
                <a:lnTo>
                  <a:pt x="79437" y="153925"/>
                </a:lnTo>
                <a:cubicBezTo>
                  <a:pt x="72874" y="151373"/>
                  <a:pt x="65789" y="150019"/>
                  <a:pt x="58341" y="150019"/>
                </a:cubicBezTo>
                <a:cubicBezTo>
                  <a:pt x="26097" y="150019"/>
                  <a:pt x="0" y="176116"/>
                  <a:pt x="0" y="208359"/>
                </a:cubicBezTo>
                <a:cubicBezTo>
                  <a:pt x="0" y="240603"/>
                  <a:pt x="26097" y="266700"/>
                  <a:pt x="58341" y="266700"/>
                </a:cubicBezTo>
                <a:cubicBezTo>
                  <a:pt x="90584" y="266700"/>
                  <a:pt x="116681" y="240603"/>
                  <a:pt x="116681" y="208359"/>
                </a:cubicBezTo>
                <a:cubicBezTo>
                  <a:pt x="116681" y="200911"/>
                  <a:pt x="115275" y="193826"/>
                  <a:pt x="112775" y="187263"/>
                </a:cubicBezTo>
                <a:lnTo>
                  <a:pt x="260033" y="40005"/>
                </a:lnTo>
                <a:cubicBezTo>
                  <a:pt x="263731" y="36307"/>
                  <a:pt x="263731" y="30368"/>
                  <a:pt x="260033" y="26670"/>
                </a:cubicBezTo>
                <a:cubicBezTo>
                  <a:pt x="245291" y="11929"/>
                  <a:pt x="221434" y="11929"/>
                  <a:pt x="206692" y="26670"/>
                </a:cubicBezTo>
                <a:lnTo>
                  <a:pt x="133350" y="100013"/>
                </a:lnTo>
                <a:lnTo>
                  <a:pt x="112775" y="79437"/>
                </a:lnTo>
                <a:cubicBezTo>
                  <a:pt x="115327" y="72874"/>
                  <a:pt x="116681" y="65789"/>
                  <a:pt x="116681" y="58341"/>
                </a:cubicBezTo>
                <a:cubicBezTo>
                  <a:pt x="116681" y="26097"/>
                  <a:pt x="90584" y="0"/>
                  <a:pt x="58341" y="0"/>
                </a:cubicBezTo>
                <a:cubicBezTo>
                  <a:pt x="26097" y="0"/>
                  <a:pt x="0" y="26097"/>
                  <a:pt x="0" y="58341"/>
                </a:cubicBezTo>
                <a:cubicBezTo>
                  <a:pt x="0" y="90584"/>
                  <a:pt x="26097" y="116681"/>
                  <a:pt x="58341" y="116681"/>
                </a:cubicBezTo>
                <a:cubicBezTo>
                  <a:pt x="65789" y="116681"/>
                  <a:pt x="72874" y="115275"/>
                  <a:pt x="79437" y="112775"/>
                </a:cubicBezTo>
                <a:lnTo>
                  <a:pt x="100013" y="133350"/>
                </a:lnTo>
                <a:close/>
                <a:moveTo>
                  <a:pt x="151008" y="184346"/>
                </a:moveTo>
                <a:lnTo>
                  <a:pt x="206693" y="240030"/>
                </a:lnTo>
                <a:cubicBezTo>
                  <a:pt x="221434" y="254771"/>
                  <a:pt x="245291" y="254771"/>
                  <a:pt x="260033" y="240030"/>
                </a:cubicBezTo>
                <a:cubicBezTo>
                  <a:pt x="263731" y="236332"/>
                  <a:pt x="263731" y="230393"/>
                  <a:pt x="260033" y="226695"/>
                </a:cubicBezTo>
                <a:lnTo>
                  <a:pt x="184346" y="151008"/>
                </a:lnTo>
                <a:lnTo>
                  <a:pt x="151008" y="184346"/>
                </a:lnTo>
                <a:close/>
                <a:moveTo>
                  <a:pt x="33337" y="58341"/>
                </a:moveTo>
                <a:cubicBezTo>
                  <a:pt x="33337" y="44541"/>
                  <a:pt x="44541" y="33337"/>
                  <a:pt x="58341" y="33337"/>
                </a:cubicBezTo>
                <a:cubicBezTo>
                  <a:pt x="72140" y="33337"/>
                  <a:pt x="83344" y="44541"/>
                  <a:pt x="83344" y="58341"/>
                </a:cubicBezTo>
                <a:cubicBezTo>
                  <a:pt x="83344" y="72140"/>
                  <a:pt x="72140" y="83344"/>
                  <a:pt x="58341" y="83344"/>
                </a:cubicBezTo>
                <a:cubicBezTo>
                  <a:pt x="44541" y="83344"/>
                  <a:pt x="33337" y="72140"/>
                  <a:pt x="33337" y="58341"/>
                </a:cubicBezTo>
                <a:close/>
                <a:moveTo>
                  <a:pt x="58341" y="183356"/>
                </a:moveTo>
                <a:cubicBezTo>
                  <a:pt x="72140" y="183356"/>
                  <a:pt x="83344" y="194560"/>
                  <a:pt x="83344" y="208359"/>
                </a:cubicBezTo>
                <a:cubicBezTo>
                  <a:pt x="83344" y="222159"/>
                  <a:pt x="72140" y="233362"/>
                  <a:pt x="58341" y="233362"/>
                </a:cubicBezTo>
                <a:cubicBezTo>
                  <a:pt x="44541" y="233362"/>
                  <a:pt x="33337" y="222159"/>
                  <a:pt x="33337" y="208359"/>
                </a:cubicBezTo>
                <a:cubicBezTo>
                  <a:pt x="33337" y="194560"/>
                  <a:pt x="44541" y="183356"/>
                  <a:pt x="58341" y="183356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30861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761999"/>
                </a:lnTo>
                <a:cubicBezTo>
                  <a:pt x="11410950" y="804084"/>
                  <a:pt x="11376834" y="838200"/>
                  <a:pt x="11334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3086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B2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7700" y="3305175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🤝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66292" y="33051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66292" y="3533775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MR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58263" y="32885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71838" y="32885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67075" y="3288506"/>
            <a:ext cx="5743575" cy="43815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users. Any city. One shared holographic brain. Role-based team simulation. AXON AI Socratic Mentor.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29900" y="321945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2" y="0"/>
                </a:moveTo>
                <a:lnTo>
                  <a:pt x="914398" y="0"/>
                </a:lnTo>
                <a:cubicBezTo>
                  <a:pt x="935441" y="0"/>
                  <a:pt x="952500" y="17059"/>
                  <a:pt x="952500" y="38102"/>
                </a:cubicBezTo>
                <a:lnTo>
                  <a:pt x="952500" y="533398"/>
                </a:lnTo>
                <a:cubicBezTo>
                  <a:pt x="952500" y="554441"/>
                  <a:pt x="935441" y="571500"/>
                  <a:pt x="9143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7B2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39463" y="3371850"/>
            <a:ext cx="333375" cy="266700"/>
          </a:xfrm>
          <a:custGeom>
            <a:avLst/>
            <a:gdLst/>
            <a:ahLst/>
            <a:cxnLst/>
            <a:rect l="l" t="t" r="r" b="b"/>
            <a:pathLst>
              <a:path w="333375" h="266700">
                <a:moveTo>
                  <a:pt x="166688" y="8334"/>
                </a:moveTo>
                <a:cubicBezTo>
                  <a:pt x="196587" y="8334"/>
                  <a:pt x="220861" y="32609"/>
                  <a:pt x="220861" y="62508"/>
                </a:cubicBezTo>
                <a:cubicBezTo>
                  <a:pt x="220861" y="92407"/>
                  <a:pt x="196587" y="116681"/>
                  <a:pt x="166688" y="116681"/>
                </a:cubicBezTo>
                <a:cubicBezTo>
                  <a:pt x="136788" y="116681"/>
                  <a:pt x="112514" y="92407"/>
                  <a:pt x="112514" y="62508"/>
                </a:cubicBezTo>
                <a:cubicBezTo>
                  <a:pt x="112514" y="32609"/>
                  <a:pt x="136788" y="8334"/>
                  <a:pt x="166688" y="8334"/>
                </a:cubicBezTo>
                <a:close/>
                <a:moveTo>
                  <a:pt x="50006" y="45839"/>
                </a:moveTo>
                <a:cubicBezTo>
                  <a:pt x="70706" y="45839"/>
                  <a:pt x="87511" y="62644"/>
                  <a:pt x="87511" y="83344"/>
                </a:cubicBezTo>
                <a:cubicBezTo>
                  <a:pt x="87511" y="104043"/>
                  <a:pt x="70706" y="120848"/>
                  <a:pt x="50006" y="120848"/>
                </a:cubicBezTo>
                <a:cubicBezTo>
                  <a:pt x="29307" y="120848"/>
                  <a:pt x="12502" y="104043"/>
                  <a:pt x="12502" y="83344"/>
                </a:cubicBezTo>
                <a:cubicBezTo>
                  <a:pt x="12502" y="62644"/>
                  <a:pt x="29307" y="45839"/>
                  <a:pt x="50006" y="45839"/>
                </a:cubicBezTo>
                <a:close/>
                <a:moveTo>
                  <a:pt x="0" y="216694"/>
                </a:moveTo>
                <a:cubicBezTo>
                  <a:pt x="0" y="179866"/>
                  <a:pt x="29847" y="150019"/>
                  <a:pt x="66675" y="150019"/>
                </a:cubicBezTo>
                <a:cubicBezTo>
                  <a:pt x="73343" y="150019"/>
                  <a:pt x="79802" y="151008"/>
                  <a:pt x="85896" y="152832"/>
                </a:cubicBezTo>
                <a:cubicBezTo>
                  <a:pt x="68759" y="172001"/>
                  <a:pt x="58341" y="197316"/>
                  <a:pt x="58341" y="225028"/>
                </a:cubicBezTo>
                <a:lnTo>
                  <a:pt x="58341" y="233362"/>
                </a:lnTo>
                <a:cubicBezTo>
                  <a:pt x="58341" y="239301"/>
                  <a:pt x="59591" y="244926"/>
                  <a:pt x="61831" y="250031"/>
                </a:cubicBezTo>
                <a:lnTo>
                  <a:pt x="16669" y="250031"/>
                </a:lnTo>
                <a:cubicBezTo>
                  <a:pt x="7449" y="250031"/>
                  <a:pt x="0" y="242582"/>
                  <a:pt x="0" y="233362"/>
                </a:cubicBezTo>
                <a:lnTo>
                  <a:pt x="0" y="216694"/>
                </a:lnTo>
                <a:close/>
                <a:moveTo>
                  <a:pt x="271544" y="250031"/>
                </a:moveTo>
                <a:cubicBezTo>
                  <a:pt x="273784" y="244926"/>
                  <a:pt x="275034" y="239301"/>
                  <a:pt x="275034" y="233362"/>
                </a:cubicBezTo>
                <a:lnTo>
                  <a:pt x="275034" y="225028"/>
                </a:lnTo>
                <a:cubicBezTo>
                  <a:pt x="275034" y="197316"/>
                  <a:pt x="264616" y="172001"/>
                  <a:pt x="247479" y="152832"/>
                </a:cubicBezTo>
                <a:cubicBezTo>
                  <a:pt x="253573" y="151008"/>
                  <a:pt x="260033" y="150019"/>
                  <a:pt x="266700" y="150019"/>
                </a:cubicBezTo>
                <a:cubicBezTo>
                  <a:pt x="303528" y="150019"/>
                  <a:pt x="333375" y="179866"/>
                  <a:pt x="333375" y="216694"/>
                </a:cubicBezTo>
                <a:lnTo>
                  <a:pt x="333375" y="233362"/>
                </a:lnTo>
                <a:cubicBezTo>
                  <a:pt x="333375" y="242582"/>
                  <a:pt x="325926" y="250031"/>
                  <a:pt x="316706" y="250031"/>
                </a:cubicBezTo>
                <a:lnTo>
                  <a:pt x="271544" y="250031"/>
                </a:lnTo>
                <a:close/>
                <a:moveTo>
                  <a:pt x="245864" y="83344"/>
                </a:moveTo>
                <a:cubicBezTo>
                  <a:pt x="245864" y="62644"/>
                  <a:pt x="262669" y="45839"/>
                  <a:pt x="283369" y="45839"/>
                </a:cubicBezTo>
                <a:cubicBezTo>
                  <a:pt x="304068" y="45839"/>
                  <a:pt x="320873" y="62644"/>
                  <a:pt x="320873" y="83344"/>
                </a:cubicBezTo>
                <a:cubicBezTo>
                  <a:pt x="320873" y="104043"/>
                  <a:pt x="304068" y="120848"/>
                  <a:pt x="283369" y="120848"/>
                </a:cubicBezTo>
                <a:cubicBezTo>
                  <a:pt x="262669" y="120848"/>
                  <a:pt x="245864" y="104043"/>
                  <a:pt x="245864" y="83344"/>
                </a:cubicBezTo>
                <a:close/>
                <a:moveTo>
                  <a:pt x="83344" y="225028"/>
                </a:moveTo>
                <a:cubicBezTo>
                  <a:pt x="83344" y="178981"/>
                  <a:pt x="120640" y="141684"/>
                  <a:pt x="166688" y="141684"/>
                </a:cubicBezTo>
                <a:cubicBezTo>
                  <a:pt x="212735" y="141684"/>
                  <a:pt x="250031" y="178981"/>
                  <a:pt x="250031" y="225028"/>
                </a:cubicBezTo>
                <a:lnTo>
                  <a:pt x="250031" y="233362"/>
                </a:lnTo>
                <a:cubicBezTo>
                  <a:pt x="250031" y="242582"/>
                  <a:pt x="242582" y="250031"/>
                  <a:pt x="233362" y="250031"/>
                </a:cubicBezTo>
                <a:lnTo>
                  <a:pt x="100013" y="250031"/>
                </a:lnTo>
                <a:cubicBezTo>
                  <a:pt x="90793" y="250031"/>
                  <a:pt x="83344" y="242582"/>
                  <a:pt x="83344" y="233362"/>
                </a:cubicBezTo>
                <a:lnTo>
                  <a:pt x="83344" y="225028"/>
                </a:lnTo>
                <a:close/>
              </a:path>
            </a:pathLst>
          </a:custGeom>
          <a:solidFill>
            <a:srgbClr val="7B2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00050" y="40386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761999"/>
                </a:lnTo>
                <a:cubicBezTo>
                  <a:pt x="11410950" y="804084"/>
                  <a:pt x="11376834" y="838200"/>
                  <a:pt x="11334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" y="4038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7700" y="4257675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66292" y="425767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PATHOPHYSIOLOGY AI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66292" y="4486275"/>
            <a:ext cx="1790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Brain That Gets Sick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58263" y="42410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71838" y="42410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267075" y="4241006"/>
            <a:ext cx="5743575" cy="43815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Paint disease. Watch it grow in real time. Treat it. See consequences. 8 conditions simulated.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629900" y="417195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2" y="0"/>
                </a:moveTo>
                <a:lnTo>
                  <a:pt x="914398" y="0"/>
                </a:lnTo>
                <a:cubicBezTo>
                  <a:pt x="935441" y="0"/>
                  <a:pt x="952500" y="17059"/>
                  <a:pt x="952500" y="38102"/>
                </a:cubicBezTo>
                <a:lnTo>
                  <a:pt x="952500" y="533398"/>
                </a:lnTo>
                <a:cubicBezTo>
                  <a:pt x="952500" y="554441"/>
                  <a:pt x="935441" y="571500"/>
                  <a:pt x="9143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8C00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006138" y="4324350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183356" y="0"/>
                </a:moveTo>
                <a:cubicBezTo>
                  <a:pt x="192576" y="0"/>
                  <a:pt x="200025" y="7449"/>
                  <a:pt x="200025" y="16669"/>
                </a:cubicBezTo>
                <a:cubicBezTo>
                  <a:pt x="200025" y="46777"/>
                  <a:pt x="187315" y="71259"/>
                  <a:pt x="170125" y="91939"/>
                </a:cubicBezTo>
                <a:cubicBezTo>
                  <a:pt x="157572" y="106993"/>
                  <a:pt x="142101" y="120640"/>
                  <a:pt x="126578" y="133350"/>
                </a:cubicBezTo>
                <a:cubicBezTo>
                  <a:pt x="142101" y="146112"/>
                  <a:pt x="157572" y="159707"/>
                  <a:pt x="170125" y="174761"/>
                </a:cubicBezTo>
                <a:cubicBezTo>
                  <a:pt x="187315" y="195389"/>
                  <a:pt x="200025" y="219923"/>
                  <a:pt x="200025" y="250031"/>
                </a:cubicBezTo>
                <a:cubicBezTo>
                  <a:pt x="200025" y="259251"/>
                  <a:pt x="192576" y="266700"/>
                  <a:pt x="183356" y="266700"/>
                </a:cubicBezTo>
                <a:cubicBezTo>
                  <a:pt x="174136" y="266700"/>
                  <a:pt x="166688" y="259251"/>
                  <a:pt x="166688" y="250031"/>
                </a:cubicBezTo>
                <a:lnTo>
                  <a:pt x="33337" y="250031"/>
                </a:lnTo>
                <a:cubicBezTo>
                  <a:pt x="33337" y="259251"/>
                  <a:pt x="25889" y="266700"/>
                  <a:pt x="16669" y="266700"/>
                </a:cubicBezTo>
                <a:cubicBezTo>
                  <a:pt x="7449" y="266700"/>
                  <a:pt x="0" y="259251"/>
                  <a:pt x="0" y="250031"/>
                </a:cubicBezTo>
                <a:cubicBezTo>
                  <a:pt x="0" y="219923"/>
                  <a:pt x="12710" y="195441"/>
                  <a:pt x="29900" y="174761"/>
                </a:cubicBezTo>
                <a:cubicBezTo>
                  <a:pt x="42453" y="159707"/>
                  <a:pt x="57924" y="146112"/>
                  <a:pt x="73447" y="133350"/>
                </a:cubicBezTo>
                <a:cubicBezTo>
                  <a:pt x="57924" y="120588"/>
                  <a:pt x="42453" y="106993"/>
                  <a:pt x="29900" y="91939"/>
                </a:cubicBezTo>
                <a:cubicBezTo>
                  <a:pt x="12710" y="71259"/>
                  <a:pt x="0" y="46777"/>
                  <a:pt x="0" y="16669"/>
                </a:cubicBezTo>
                <a:cubicBezTo>
                  <a:pt x="0" y="7449"/>
                  <a:pt x="7449" y="0"/>
                  <a:pt x="16669" y="0"/>
                </a:cubicBezTo>
                <a:cubicBezTo>
                  <a:pt x="25889" y="0"/>
                  <a:pt x="33337" y="7449"/>
                  <a:pt x="33337" y="16669"/>
                </a:cubicBezTo>
                <a:lnTo>
                  <a:pt x="166688" y="16669"/>
                </a:lnTo>
                <a:cubicBezTo>
                  <a:pt x="166688" y="7449"/>
                  <a:pt x="174136" y="0"/>
                  <a:pt x="183356" y="0"/>
                </a:cubicBezTo>
                <a:close/>
                <a:moveTo>
                  <a:pt x="147675" y="200025"/>
                </a:moveTo>
                <a:lnTo>
                  <a:pt x="52402" y="200025"/>
                </a:lnTo>
                <a:cubicBezTo>
                  <a:pt x="48131" y="205494"/>
                  <a:pt x="44537" y="211016"/>
                  <a:pt x="41672" y="216694"/>
                </a:cubicBezTo>
                <a:lnTo>
                  <a:pt x="158457" y="216694"/>
                </a:lnTo>
                <a:cubicBezTo>
                  <a:pt x="155540" y="211016"/>
                  <a:pt x="151946" y="205494"/>
                  <a:pt x="147727" y="200025"/>
                </a:cubicBezTo>
                <a:close/>
                <a:moveTo>
                  <a:pt x="123974" y="175022"/>
                </a:moveTo>
                <a:cubicBezTo>
                  <a:pt x="116525" y="168250"/>
                  <a:pt x="108451" y="161583"/>
                  <a:pt x="100013" y="154707"/>
                </a:cubicBezTo>
                <a:cubicBezTo>
                  <a:pt x="91574" y="161531"/>
                  <a:pt x="83500" y="168250"/>
                  <a:pt x="76051" y="175022"/>
                </a:cubicBezTo>
                <a:lnTo>
                  <a:pt x="123974" y="175022"/>
                </a:lnTo>
                <a:close/>
                <a:moveTo>
                  <a:pt x="52350" y="66675"/>
                </a:moveTo>
                <a:lnTo>
                  <a:pt x="147623" y="66675"/>
                </a:lnTo>
                <a:cubicBezTo>
                  <a:pt x="151894" y="61206"/>
                  <a:pt x="155488" y="55684"/>
                  <a:pt x="158353" y="50006"/>
                </a:cubicBezTo>
                <a:lnTo>
                  <a:pt x="41620" y="50006"/>
                </a:lnTo>
                <a:cubicBezTo>
                  <a:pt x="44537" y="55684"/>
                  <a:pt x="48131" y="61206"/>
                  <a:pt x="52350" y="66675"/>
                </a:cubicBezTo>
                <a:close/>
                <a:moveTo>
                  <a:pt x="76051" y="91678"/>
                </a:moveTo>
                <a:cubicBezTo>
                  <a:pt x="83500" y="98450"/>
                  <a:pt x="91574" y="105117"/>
                  <a:pt x="100013" y="111993"/>
                </a:cubicBezTo>
                <a:cubicBezTo>
                  <a:pt x="108451" y="105169"/>
                  <a:pt x="116525" y="98450"/>
                  <a:pt x="123974" y="91678"/>
                </a:cubicBezTo>
                <a:lnTo>
                  <a:pt x="76051" y="91678"/>
                </a:lnTo>
                <a:close/>
              </a:path>
            </a:pathLst>
          </a:custGeom>
          <a:solidFill>
            <a:srgbClr val="FF8C00"/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" y="49911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761999"/>
                </a:lnTo>
                <a:cubicBezTo>
                  <a:pt x="11410950" y="804084"/>
                  <a:pt x="11376834" y="838200"/>
                  <a:pt x="11334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" y="4991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5" name="Text 43"/>
          <p:cNvSpPr/>
          <p:nvPr/>
        </p:nvSpPr>
        <p:spPr>
          <a:xfrm>
            <a:off x="647700" y="5210175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🎮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66292" y="521017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MASTERY SYSTEM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66292" y="543877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as a Game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58263" y="51935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271838" y="5193506"/>
            <a:ext cx="9525" cy="438150"/>
          </a:xfrm>
          <a:custGeom>
            <a:avLst/>
            <a:gdLst/>
            <a:ahLst/>
            <a:cxnLst/>
            <a:rect l="l" t="t" r="r" b="b"/>
            <a:pathLst>
              <a:path w="9525" h="438150">
                <a:moveTo>
                  <a:pt x="0" y="0"/>
                </a:moveTo>
                <a:lnTo>
                  <a:pt x="9525" y="0"/>
                </a:lnTo>
                <a:lnTo>
                  <a:pt x="9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267075" y="5193506"/>
            <a:ext cx="5743575" cy="43815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Surgical passport. Global leaderboards. Adaptive AI difficulty. Never boring. Never overwhelming.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629900" y="512445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2" y="0"/>
                </a:moveTo>
                <a:lnTo>
                  <a:pt x="914398" y="0"/>
                </a:lnTo>
                <a:cubicBezTo>
                  <a:pt x="935441" y="0"/>
                  <a:pt x="952500" y="17059"/>
                  <a:pt x="952500" y="38102"/>
                </a:cubicBezTo>
                <a:lnTo>
                  <a:pt x="952500" y="533398"/>
                </a:lnTo>
                <a:cubicBezTo>
                  <a:pt x="952500" y="554441"/>
                  <a:pt x="935441" y="571500"/>
                  <a:pt x="9143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01FF88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972800" y="52768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5166" y="0"/>
                </a:moveTo>
                <a:lnTo>
                  <a:pt x="191847" y="0"/>
                </a:lnTo>
                <a:cubicBezTo>
                  <a:pt x="205651" y="0"/>
                  <a:pt x="216902" y="11356"/>
                  <a:pt x="216381" y="25107"/>
                </a:cubicBezTo>
                <a:cubicBezTo>
                  <a:pt x="216277" y="27868"/>
                  <a:pt x="216173" y="30629"/>
                  <a:pt x="216017" y="33337"/>
                </a:cubicBezTo>
                <a:lnTo>
                  <a:pt x="241853" y="33337"/>
                </a:lnTo>
                <a:cubicBezTo>
                  <a:pt x="255449" y="33337"/>
                  <a:pt x="267429" y="44589"/>
                  <a:pt x="266387" y="59278"/>
                </a:cubicBezTo>
                <a:cubicBezTo>
                  <a:pt x="262481" y="113295"/>
                  <a:pt x="234873" y="142987"/>
                  <a:pt x="204921" y="158509"/>
                </a:cubicBezTo>
                <a:cubicBezTo>
                  <a:pt x="196691" y="162781"/>
                  <a:pt x="188305" y="165958"/>
                  <a:pt x="180335" y="168302"/>
                </a:cubicBezTo>
                <a:cubicBezTo>
                  <a:pt x="169813" y="183200"/>
                  <a:pt x="158874" y="191066"/>
                  <a:pt x="150175" y="195285"/>
                </a:cubicBezTo>
                <a:lnTo>
                  <a:pt x="150175" y="233362"/>
                </a:lnTo>
                <a:lnTo>
                  <a:pt x="183513" y="233362"/>
                </a:lnTo>
                <a:cubicBezTo>
                  <a:pt x="192732" y="233362"/>
                  <a:pt x="200181" y="240811"/>
                  <a:pt x="200181" y="250031"/>
                </a:cubicBezTo>
                <a:cubicBezTo>
                  <a:pt x="200181" y="259251"/>
                  <a:pt x="192732" y="266700"/>
                  <a:pt x="183513" y="266700"/>
                </a:cubicBezTo>
                <a:lnTo>
                  <a:pt x="83500" y="266700"/>
                </a:lnTo>
                <a:cubicBezTo>
                  <a:pt x="74280" y="266700"/>
                  <a:pt x="66831" y="259251"/>
                  <a:pt x="66831" y="250031"/>
                </a:cubicBezTo>
                <a:cubicBezTo>
                  <a:pt x="66831" y="240811"/>
                  <a:pt x="74280" y="233362"/>
                  <a:pt x="83500" y="233362"/>
                </a:cubicBezTo>
                <a:lnTo>
                  <a:pt x="116838" y="233362"/>
                </a:lnTo>
                <a:lnTo>
                  <a:pt x="116838" y="195285"/>
                </a:lnTo>
                <a:cubicBezTo>
                  <a:pt x="108503" y="191274"/>
                  <a:pt x="98137" y="183825"/>
                  <a:pt x="88032" y="170125"/>
                </a:cubicBezTo>
                <a:cubicBezTo>
                  <a:pt x="78447" y="167625"/>
                  <a:pt x="68029" y="163823"/>
                  <a:pt x="57872" y="158093"/>
                </a:cubicBezTo>
                <a:cubicBezTo>
                  <a:pt x="29691" y="142309"/>
                  <a:pt x="4271" y="112566"/>
                  <a:pt x="625" y="59174"/>
                </a:cubicBezTo>
                <a:cubicBezTo>
                  <a:pt x="-365" y="44537"/>
                  <a:pt x="11564" y="33285"/>
                  <a:pt x="25159" y="33285"/>
                </a:cubicBezTo>
                <a:lnTo>
                  <a:pt x="50996" y="33285"/>
                </a:lnTo>
                <a:cubicBezTo>
                  <a:pt x="50840" y="30577"/>
                  <a:pt x="50736" y="27868"/>
                  <a:pt x="50631" y="25055"/>
                </a:cubicBezTo>
                <a:cubicBezTo>
                  <a:pt x="50110" y="11251"/>
                  <a:pt x="61362" y="-52"/>
                  <a:pt x="75166" y="-52"/>
                </a:cubicBezTo>
                <a:close/>
                <a:moveTo>
                  <a:pt x="52871" y="58341"/>
                </a:moveTo>
                <a:lnTo>
                  <a:pt x="25576" y="58341"/>
                </a:lnTo>
                <a:cubicBezTo>
                  <a:pt x="28806" y="102461"/>
                  <a:pt x="49069" y="124547"/>
                  <a:pt x="69957" y="136267"/>
                </a:cubicBezTo>
                <a:cubicBezTo>
                  <a:pt x="62456" y="116838"/>
                  <a:pt x="56257" y="91470"/>
                  <a:pt x="52871" y="58341"/>
                </a:cubicBezTo>
                <a:close/>
                <a:moveTo>
                  <a:pt x="197941" y="133767"/>
                </a:moveTo>
                <a:cubicBezTo>
                  <a:pt x="219038" y="121369"/>
                  <a:pt x="238103" y="99335"/>
                  <a:pt x="241332" y="58341"/>
                </a:cubicBezTo>
                <a:lnTo>
                  <a:pt x="214089" y="58341"/>
                </a:lnTo>
                <a:cubicBezTo>
                  <a:pt x="210860" y="90063"/>
                  <a:pt x="205026" y="114702"/>
                  <a:pt x="197941" y="133767"/>
                </a:cubicBezTo>
                <a:close/>
              </a:path>
            </a:pathLst>
          </a:custGeom>
          <a:solidFill>
            <a:srgbClr val="00FF8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F5FF">
                  <a:alpha val="30000"/>
                </a:srgbClr>
              </a:gs>
              <a:gs pos="20000">
                <a:srgbClr val="00F5FF">
                  <a:alpha val="30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04800" y="381000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COMPETITOR BUILT FOR CONTROLLERS.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80988" y="876300"/>
            <a:ext cx="116300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1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built for this.</a:t>
            </a:r>
            <a:endParaRPr lang="en-US" sz="1600" dirty="0"/>
          </a:p>
        </p:txBody>
      </p:sp>
      <p:pic>
        <p:nvPicPr>
          <p:cNvPr id="5" name="Image 0" descr="https://kimi-web-img.moonshot.cn/img/resource.logitech.com/5626a4c89ae92ddc1b5b179758a170c6072909cb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39" b="39"/>
          <a:stretch/>
        </p:blipFill>
        <p:spPr>
          <a:xfrm rot="-599999">
            <a:off x="685025" y="2391063"/>
            <a:ext cx="4000500" cy="2638425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696917" y="1633538"/>
            <a:ext cx="6105525" cy="981075"/>
          </a:xfrm>
          <a:custGeom>
            <a:avLst/>
            <a:gdLst/>
            <a:ahLst/>
            <a:cxnLst/>
            <a:rect l="l" t="t" r="r" b="b"/>
            <a:pathLst>
              <a:path w="6105525" h="981075">
                <a:moveTo>
                  <a:pt x="76200" y="0"/>
                </a:moveTo>
                <a:lnTo>
                  <a:pt x="6029325" y="0"/>
                </a:lnTo>
                <a:cubicBezTo>
                  <a:pt x="6071409" y="0"/>
                  <a:pt x="6105525" y="34116"/>
                  <a:pt x="6105525" y="76200"/>
                </a:cubicBezTo>
                <a:lnTo>
                  <a:pt x="6105525" y="904875"/>
                </a:lnTo>
                <a:cubicBezTo>
                  <a:pt x="6105525" y="946959"/>
                  <a:pt x="6071409" y="981075"/>
                  <a:pt x="6029325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87380" y="2085975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 rot="16200000">
            <a:off x="5587380" y="2085975"/>
            <a:ext cx="203200" cy="152400"/>
          </a:xfrm>
          <a:prstGeom prst="triangle">
            <a:avLst>
              <a:gd name="adj" fmla="val 50000"/>
            </a:avLst>
          </a:prstGeom>
          <a:solidFill>
            <a:srgbClr val="00F5FF"/>
          </a:solidFill>
          <a:ln/>
        </p:spPr>
      </p:sp>
      <p:sp>
        <p:nvSpPr>
          <p:cNvPr id="9" name="Shape 6"/>
          <p:cNvSpPr/>
          <p:nvPr/>
        </p:nvSpPr>
        <p:spPr>
          <a:xfrm>
            <a:off x="5587380" y="2314575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854080" y="17907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 TIP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4080" y="2057400"/>
            <a:ext cx="5857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Sub-millimeter accuracy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Ghost surgeon deviation scored in real millimeters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01717" y="2776538"/>
            <a:ext cx="5800725" cy="1181100"/>
          </a:xfrm>
          <a:custGeom>
            <a:avLst/>
            <a:gdLst/>
            <a:ahLst/>
            <a:cxnLst/>
            <a:rect l="l" t="t" r="r" b="b"/>
            <a:pathLst>
              <a:path w="5800725" h="1181100">
                <a:moveTo>
                  <a:pt x="76205" y="0"/>
                </a:moveTo>
                <a:lnTo>
                  <a:pt x="5724520" y="0"/>
                </a:lnTo>
                <a:cubicBezTo>
                  <a:pt x="5766579" y="0"/>
                  <a:pt x="5800725" y="34146"/>
                  <a:pt x="5800725" y="76205"/>
                </a:cubicBezTo>
                <a:lnTo>
                  <a:pt x="5800725" y="1104895"/>
                </a:lnTo>
                <a:cubicBezTo>
                  <a:pt x="5800725" y="1146982"/>
                  <a:pt x="5766607" y="1181100"/>
                  <a:pt x="57245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92180" y="3328988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 rot="16200000">
            <a:off x="5892180" y="3328988"/>
            <a:ext cx="203200" cy="152400"/>
          </a:xfrm>
          <a:prstGeom prst="triangle">
            <a:avLst>
              <a:gd name="adj" fmla="val 50000"/>
            </a:avLst>
          </a:prstGeom>
          <a:solidFill>
            <a:srgbClr val="00F5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180" y="3557588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158880" y="2933700"/>
            <a:ext cx="556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4,096 PRESSURE LEVELS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58880" y="3200400"/>
            <a:ext cx="5553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 → surface annotation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Medium → fascial dissection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Heavy → bone cut simulation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01717" y="4119562"/>
            <a:ext cx="5800725" cy="1181100"/>
          </a:xfrm>
          <a:custGeom>
            <a:avLst/>
            <a:gdLst/>
            <a:ahLst/>
            <a:cxnLst/>
            <a:rect l="l" t="t" r="r" b="b"/>
            <a:pathLst>
              <a:path w="5800725" h="1181100">
                <a:moveTo>
                  <a:pt x="76205" y="0"/>
                </a:moveTo>
                <a:lnTo>
                  <a:pt x="5724520" y="0"/>
                </a:lnTo>
                <a:cubicBezTo>
                  <a:pt x="5766579" y="0"/>
                  <a:pt x="5800725" y="34146"/>
                  <a:pt x="5800725" y="76205"/>
                </a:cubicBezTo>
                <a:lnTo>
                  <a:pt x="5800725" y="1104895"/>
                </a:lnTo>
                <a:cubicBezTo>
                  <a:pt x="5800725" y="1146982"/>
                  <a:pt x="5766607" y="1181100"/>
                  <a:pt x="57245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92180" y="4672013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 rot="16200000">
            <a:off x="5892180" y="4672013"/>
            <a:ext cx="203200" cy="152400"/>
          </a:xfrm>
          <a:prstGeom prst="triangle">
            <a:avLst>
              <a:gd name="adj" fmla="val 50000"/>
            </a:avLst>
          </a:prstGeom>
          <a:solidFill>
            <a:srgbClr val="00F5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892180" y="4900613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158880" y="4276725"/>
            <a:ext cx="556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TILT DETECTION 0°–60°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58880" y="4543425"/>
            <a:ext cx="5553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 = spatula retractor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Upright = bipolar forceps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Angle = instrument identity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96917" y="5462588"/>
            <a:ext cx="6105525" cy="981075"/>
          </a:xfrm>
          <a:custGeom>
            <a:avLst/>
            <a:gdLst/>
            <a:ahLst/>
            <a:cxnLst/>
            <a:rect l="l" t="t" r="r" b="b"/>
            <a:pathLst>
              <a:path w="6105525" h="981075">
                <a:moveTo>
                  <a:pt x="76200" y="0"/>
                </a:moveTo>
                <a:lnTo>
                  <a:pt x="6029325" y="0"/>
                </a:lnTo>
                <a:cubicBezTo>
                  <a:pt x="6071409" y="0"/>
                  <a:pt x="6105525" y="34116"/>
                  <a:pt x="6105525" y="76200"/>
                </a:cubicBezTo>
                <a:lnTo>
                  <a:pt x="6105525" y="904875"/>
                </a:lnTo>
                <a:cubicBezTo>
                  <a:pt x="6105525" y="946959"/>
                  <a:pt x="6071409" y="981075"/>
                  <a:pt x="6029325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87380" y="5915025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 rot="16200000">
            <a:off x="5587380" y="5915025"/>
            <a:ext cx="203200" cy="152400"/>
          </a:xfrm>
          <a:prstGeom prst="triangle">
            <a:avLst>
              <a:gd name="adj" fmla="val 50000"/>
            </a:avLst>
          </a:prstGeom>
          <a:solidFill>
            <a:srgbClr val="00F5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587380" y="6143625"/>
            <a:ext cx="171450" cy="76200"/>
          </a:xfrm>
          <a:custGeom>
            <a:avLst/>
            <a:gdLst/>
            <a:ahLst/>
            <a:cxnLst/>
            <a:rect l="l" t="t" r="r" b="b"/>
            <a:pathLst>
              <a:path w="171450" h="76200">
                <a:moveTo>
                  <a:pt x="0" y="0"/>
                </a:moveTo>
                <a:lnTo>
                  <a:pt x="171450" y="0"/>
                </a:lnTo>
                <a:lnTo>
                  <a:pt x="1714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854080" y="561975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SIDE BUTTON MODES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854080" y="5886450"/>
            <a:ext cx="5857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1× = Annotate mode | 2× = Dissect mode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Hold = Paint pathology | Double tap = Hand switch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85763" y="6605588"/>
            <a:ext cx="11420475" cy="9525"/>
          </a:xfrm>
          <a:custGeom>
            <a:avLst/>
            <a:gdLst/>
            <a:ahLst/>
            <a:cxnLst/>
            <a:rect l="l" t="t" r="r" b="b"/>
            <a:pathLst>
              <a:path w="11420475" h="9525">
                <a:moveTo>
                  <a:pt x="4763" y="0"/>
                </a:moveTo>
                <a:lnTo>
                  <a:pt x="11415713" y="0"/>
                </a:lnTo>
                <a:cubicBezTo>
                  <a:pt x="11418341" y="0"/>
                  <a:pt x="11420475" y="2134"/>
                  <a:pt x="11420475" y="4763"/>
                </a:cubicBezTo>
                <a:lnTo>
                  <a:pt x="11420475" y="4763"/>
                </a:lnTo>
                <a:cubicBezTo>
                  <a:pt x="11420475" y="7391"/>
                  <a:pt x="11418341" y="9525"/>
                  <a:pt x="11415713" y="9525"/>
                </a:cubicBezTo>
                <a:lnTo>
                  <a:pt x="4763" y="9525"/>
                </a:lnTo>
                <a:cubicBezTo>
                  <a:pt x="2134" y="9525"/>
                  <a:pt x="0" y="7391"/>
                  <a:pt x="0" y="4763"/>
                </a:cubicBezTo>
                <a:lnTo>
                  <a:pt x="0" y="4763"/>
                </a:lnTo>
                <a:cubicBezTo>
                  <a:pt x="0" y="2134"/>
                  <a:pt x="2134" y="0"/>
                  <a:pt x="4762" y="0"/>
                </a:cubicBezTo>
                <a:close/>
              </a:path>
            </a:pathLst>
          </a:custGeom>
          <a:solidFill>
            <a:srgbClr val="0F0F2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0525" y="6610350"/>
          <a:ext cx="11410950" cy="2238375"/>
        </p:xfrm>
        <a:graphic>
          <a:graphicData uri="http://schemas.openxmlformats.org/drawingml/2006/table">
            <a:tbl>
              <a:tblPr/>
              <a:tblGrid>
                <a:gridCol w="3673584"/>
                <a:gridCol w="3540345"/>
                <a:gridCol w="4197022"/>
              </a:tblGrid>
              <a:tr h="37306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1F5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Game Controller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1F5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MX Ink Stylus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1F5FF">
                        <a:alpha val="20000"/>
                      </a:srgbClr>
                    </a:solidFill>
                  </a:tcPr>
                </a:tc>
              </a:tr>
              <a:tr h="3730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Pressure Sensitivity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 None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0FF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4,096 levels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30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Tilt Awareness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 None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0FF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0–60° detection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30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Surgical Feel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 Button pressing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0FF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Natural pen grip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30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Precision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 Centimeter-level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0FF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Sub-millimeter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30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Skill Transfer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 Zero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0FF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Direct motor memory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b05d9d9ad41486de5e1a5631db9e4689418dbce.jp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1A"/>
              </a:gs>
              <a:gs pos="50000">
                <a:srgbClr val="0A0A1A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spc="300" kern="0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 DEMONSTRATION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29260" y="1919288"/>
            <a:ext cx="7134225" cy="2619375"/>
          </a:xfrm>
          <a:custGeom>
            <a:avLst/>
            <a:gdLst/>
            <a:ahLst/>
            <a:cxnLst/>
            <a:rect l="l" t="t" r="r" b="b"/>
            <a:pathLst>
              <a:path w="7134225" h="2619375">
                <a:moveTo>
                  <a:pt x="152395" y="0"/>
                </a:moveTo>
                <a:lnTo>
                  <a:pt x="6981830" y="0"/>
                </a:lnTo>
                <a:cubicBezTo>
                  <a:pt x="7065995" y="0"/>
                  <a:pt x="7134225" y="68230"/>
                  <a:pt x="7134225" y="152395"/>
                </a:cubicBezTo>
                <a:lnTo>
                  <a:pt x="7134225" y="2466980"/>
                </a:lnTo>
                <a:cubicBezTo>
                  <a:pt x="7134225" y="2551145"/>
                  <a:pt x="7065995" y="2619375"/>
                  <a:pt x="6981830" y="2619375"/>
                </a:cubicBezTo>
                <a:lnTo>
                  <a:pt x="152395" y="2619375"/>
                </a:lnTo>
                <a:cubicBezTo>
                  <a:pt x="68230" y="2619375"/>
                  <a:pt x="0" y="2551145"/>
                  <a:pt x="0" y="2466980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0A0A1A">
              <a:alpha val="70196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62635" y="2300288"/>
            <a:ext cx="6467475" cy="185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"This is what learning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neurosurgery feels like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2025."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67544" y="5881688"/>
            <a:ext cx="3143250" cy="438150"/>
          </a:xfrm>
          <a:custGeom>
            <a:avLst/>
            <a:gdLst/>
            <a:ahLst/>
            <a:cxnLst/>
            <a:rect l="l" t="t" r="r" b="b"/>
            <a:pathLst>
              <a:path w="3143250" h="438150">
                <a:moveTo>
                  <a:pt x="219075" y="0"/>
                </a:moveTo>
                <a:lnTo>
                  <a:pt x="2924175" y="0"/>
                </a:lnTo>
                <a:cubicBezTo>
                  <a:pt x="3045086" y="0"/>
                  <a:pt x="3143250" y="98164"/>
                  <a:pt x="3143250" y="219075"/>
                </a:cubicBezTo>
                <a:lnTo>
                  <a:pt x="3143250" y="219075"/>
                </a:lnTo>
                <a:cubicBezTo>
                  <a:pt x="3143250" y="339986"/>
                  <a:pt x="3045086" y="438150"/>
                  <a:pt x="29241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0A0A1A">
              <a:alpha val="90196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62807" y="60436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9" name="Text 6"/>
          <p:cNvSpPr/>
          <p:nvPr/>
        </p:nvSpPr>
        <p:spPr>
          <a:xfrm>
            <a:off x="1491407" y="6000750"/>
            <a:ext cx="2590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Pressure-mapped tissue response — LIVE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52268" y="5881688"/>
            <a:ext cx="3171825" cy="438150"/>
          </a:xfrm>
          <a:custGeom>
            <a:avLst/>
            <a:gdLst/>
            <a:ahLst/>
            <a:cxnLst/>
            <a:rect l="l" t="t" r="r" b="b"/>
            <a:pathLst>
              <a:path w="3171825" h="438150">
                <a:moveTo>
                  <a:pt x="219075" y="0"/>
                </a:moveTo>
                <a:lnTo>
                  <a:pt x="2952750" y="0"/>
                </a:lnTo>
                <a:cubicBezTo>
                  <a:pt x="3073661" y="0"/>
                  <a:pt x="3171825" y="98164"/>
                  <a:pt x="3171825" y="219075"/>
                </a:cubicBezTo>
                <a:lnTo>
                  <a:pt x="3171825" y="219075"/>
                </a:lnTo>
                <a:cubicBezTo>
                  <a:pt x="3171825" y="339986"/>
                  <a:pt x="3073661" y="438150"/>
                  <a:pt x="2952750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0A0A1A">
              <a:alpha val="90196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7530" y="60436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7B2FFF"/>
          </a:solidFill>
          <a:ln/>
        </p:spPr>
      </p:sp>
      <p:sp>
        <p:nvSpPr>
          <p:cNvPr id="12" name="Text 9"/>
          <p:cNvSpPr/>
          <p:nvPr/>
        </p:nvSpPr>
        <p:spPr>
          <a:xfrm>
            <a:off x="4876130" y="6000750"/>
            <a:ext cx="2619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AXON AI Mentor — responding in real time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59092" y="5881688"/>
            <a:ext cx="3267075" cy="438150"/>
          </a:xfrm>
          <a:custGeom>
            <a:avLst/>
            <a:gdLst/>
            <a:ahLst/>
            <a:cxnLst/>
            <a:rect l="l" t="t" r="r" b="b"/>
            <a:pathLst>
              <a:path w="3267075" h="438150">
                <a:moveTo>
                  <a:pt x="219075" y="0"/>
                </a:moveTo>
                <a:lnTo>
                  <a:pt x="3048000" y="0"/>
                </a:lnTo>
                <a:cubicBezTo>
                  <a:pt x="3168911" y="0"/>
                  <a:pt x="3267075" y="98164"/>
                  <a:pt x="3267075" y="219075"/>
                </a:cubicBezTo>
                <a:lnTo>
                  <a:pt x="3267075" y="219075"/>
                </a:lnTo>
                <a:cubicBezTo>
                  <a:pt x="3267075" y="339986"/>
                  <a:pt x="3168911" y="438150"/>
                  <a:pt x="3048000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0A0A1A">
              <a:alpha val="90196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54355" y="60436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5" name="Text 12"/>
          <p:cNvSpPr/>
          <p:nvPr/>
        </p:nvSpPr>
        <p:spPr>
          <a:xfrm>
            <a:off x="8282955" y="600075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Ghost Surgeon overlay — expert path visible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" r="6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65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</a:t>
            </a:r>
            <a:pPr>
              <a:lnSpc>
                <a:spcPct val="130000"/>
              </a:lnSpc>
            </a:pPr>
            <a:r>
              <a:rPr lang="en-US" sz="36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$22 BILLION</a:t>
            </a:r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MARKET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WAITING FOR THIS MOMENT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71550" y="2112169"/>
            <a:ext cx="3790950" cy="3790950"/>
          </a:xfrm>
          <a:custGeom>
            <a:avLst/>
            <a:gdLst/>
            <a:ahLst/>
            <a:cxnLst/>
            <a:rect l="l" t="t" r="r" b="b"/>
            <a:pathLst>
              <a:path w="3790950" h="3790950">
                <a:moveTo>
                  <a:pt x="1895475" y="0"/>
                </a:moveTo>
                <a:lnTo>
                  <a:pt x="1895475" y="0"/>
                </a:lnTo>
                <a:cubicBezTo>
                  <a:pt x="2941616" y="0"/>
                  <a:pt x="3790950" y="849334"/>
                  <a:pt x="3790950" y="1895475"/>
                </a:cubicBezTo>
                <a:lnTo>
                  <a:pt x="3790950" y="1895475"/>
                </a:lnTo>
                <a:cubicBezTo>
                  <a:pt x="3790950" y="2941616"/>
                  <a:pt x="2941616" y="3790950"/>
                  <a:pt x="1895475" y="3790950"/>
                </a:cubicBezTo>
                <a:lnTo>
                  <a:pt x="1895475" y="3790950"/>
                </a:lnTo>
                <a:cubicBezTo>
                  <a:pt x="849334" y="3790950"/>
                  <a:pt x="0" y="2941616"/>
                  <a:pt x="0" y="1895475"/>
                </a:cubicBezTo>
                <a:lnTo>
                  <a:pt x="0" y="1895475"/>
                </a:lnTo>
                <a:cubicBezTo>
                  <a:pt x="0" y="849334"/>
                  <a:pt x="849334" y="0"/>
                  <a:pt x="1895475" y="0"/>
                </a:cubicBezTo>
                <a:close/>
              </a:path>
            </a:pathLst>
          </a:custGeom>
          <a:solidFill>
            <a:srgbClr val="FF3366">
              <a:alpha val="14902"/>
            </a:srgbClr>
          </a:solidFill>
          <a:ln w="25400">
            <a:solidFill>
              <a:srgbClr val="FF336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55664" y="3536156"/>
            <a:ext cx="819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22327" y="3736181"/>
            <a:ext cx="88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$22B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0427" y="4136231"/>
            <a:ext cx="809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Medical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62100" y="2702719"/>
            <a:ext cx="2609850" cy="2609850"/>
          </a:xfrm>
          <a:custGeom>
            <a:avLst/>
            <a:gdLst/>
            <a:ahLst/>
            <a:cxnLst/>
            <a:rect l="l" t="t" r="r" b="b"/>
            <a:pathLst>
              <a:path w="2609850" h="2609850">
                <a:moveTo>
                  <a:pt x="1304925" y="0"/>
                </a:moveTo>
                <a:lnTo>
                  <a:pt x="1304925" y="0"/>
                </a:lnTo>
                <a:cubicBezTo>
                  <a:pt x="2025133" y="0"/>
                  <a:pt x="2609850" y="584717"/>
                  <a:pt x="2609850" y="1304925"/>
                </a:cubicBezTo>
                <a:lnTo>
                  <a:pt x="2609850" y="1304925"/>
                </a:lnTo>
                <a:cubicBezTo>
                  <a:pt x="2609850" y="2025133"/>
                  <a:pt x="2025133" y="2609850"/>
                  <a:pt x="1304925" y="2609850"/>
                </a:cubicBezTo>
                <a:lnTo>
                  <a:pt x="1304925" y="2609850"/>
                </a:lnTo>
                <a:cubicBezTo>
                  <a:pt x="584717" y="2609850"/>
                  <a:pt x="0" y="2025133"/>
                  <a:pt x="0" y="1304925"/>
                </a:cubicBezTo>
                <a:lnTo>
                  <a:pt x="0" y="1304925"/>
                </a:lnTo>
                <a:cubicBezTo>
                  <a:pt x="0" y="584717"/>
                  <a:pt x="584717" y="0"/>
                  <a:pt x="1304925" y="0"/>
                </a:cubicBezTo>
                <a:close/>
              </a:path>
            </a:pathLst>
          </a:custGeom>
          <a:solidFill>
            <a:srgbClr val="7B2FFF">
              <a:alpha val="20000"/>
            </a:srgbClr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77988" y="3579019"/>
            <a:ext cx="781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54176" y="3779044"/>
            <a:ext cx="828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$4.2B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485132" y="4121944"/>
            <a:ext cx="7667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2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 Training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82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Pharma XR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57400" y="3198019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809625" y="0"/>
                </a:moveTo>
                <a:lnTo>
                  <a:pt x="809625" y="0"/>
                </a:lnTo>
                <a:cubicBezTo>
                  <a:pt x="1256469" y="0"/>
                  <a:pt x="1619250" y="362781"/>
                  <a:pt x="1619250" y="809625"/>
                </a:cubicBezTo>
                <a:lnTo>
                  <a:pt x="1619250" y="809625"/>
                </a:lnTo>
                <a:cubicBezTo>
                  <a:pt x="1619250" y="1256469"/>
                  <a:pt x="1256469" y="1619250"/>
                  <a:pt x="809625" y="1619250"/>
                </a:cubicBezTo>
                <a:lnTo>
                  <a:pt x="809625" y="1619250"/>
                </a:lnTo>
                <a:cubicBezTo>
                  <a:pt x="362781" y="1619250"/>
                  <a:pt x="0" y="1256469"/>
                  <a:pt x="0" y="809625"/>
                </a:cubicBezTo>
                <a:lnTo>
                  <a:pt x="0" y="809625"/>
                </a:lnTo>
                <a:cubicBezTo>
                  <a:pt x="0" y="362781"/>
                  <a:pt x="362781" y="0"/>
                  <a:pt x="809625" y="0"/>
                </a:cubicBezTo>
                <a:close/>
              </a:path>
            </a:pathLst>
          </a:custGeom>
          <a:solidFill>
            <a:srgbClr val="01F5FF">
              <a:alpha val="30196"/>
            </a:srgbClr>
          </a:solidFill>
          <a:ln w="25400">
            <a:solidFill>
              <a:srgbClr val="00F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96728" y="3629025"/>
            <a:ext cx="938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380059" y="3814763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$11.45M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403872" y="4100513"/>
            <a:ext cx="923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3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75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 ARR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48338" y="1981200"/>
            <a:ext cx="6062663" cy="723900"/>
          </a:xfrm>
          <a:custGeom>
            <a:avLst/>
            <a:gdLst/>
            <a:ahLst/>
            <a:cxnLst/>
            <a:rect l="l" t="t" r="r" b="b"/>
            <a:pathLst>
              <a:path w="6062663" h="723900">
                <a:moveTo>
                  <a:pt x="0" y="0"/>
                </a:moveTo>
                <a:lnTo>
                  <a:pt x="5986465" y="0"/>
                </a:lnTo>
                <a:cubicBezTo>
                  <a:pt x="6028519" y="0"/>
                  <a:pt x="6062663" y="34143"/>
                  <a:pt x="6062663" y="76198"/>
                </a:cubicBezTo>
                <a:lnTo>
                  <a:pt x="6062663" y="647702"/>
                </a:lnTo>
                <a:cubicBezTo>
                  <a:pt x="6062663" y="689757"/>
                  <a:pt x="6028519" y="723900"/>
                  <a:pt x="5986465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17" name="Shape 14"/>
          <p:cNvSpPr/>
          <p:nvPr/>
        </p:nvSpPr>
        <p:spPr>
          <a:xfrm>
            <a:off x="5748338" y="1981200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0" y="0"/>
                </a:moveTo>
                <a:lnTo>
                  <a:pt x="28575" y="0"/>
                </a:lnTo>
                <a:lnTo>
                  <a:pt x="28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15025" y="2140744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🏫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33617" y="21336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170+ US Medical Schools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33617" y="2362200"/>
            <a:ext cx="30051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avg 10 seats = 1,700 institutional seats immediately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48338" y="2814638"/>
            <a:ext cx="6062663" cy="723900"/>
          </a:xfrm>
          <a:custGeom>
            <a:avLst/>
            <a:gdLst/>
            <a:ahLst/>
            <a:cxnLst/>
            <a:rect l="l" t="t" r="r" b="b"/>
            <a:pathLst>
              <a:path w="6062663" h="723900">
                <a:moveTo>
                  <a:pt x="0" y="0"/>
                </a:moveTo>
                <a:lnTo>
                  <a:pt x="5986465" y="0"/>
                </a:lnTo>
                <a:cubicBezTo>
                  <a:pt x="6028519" y="0"/>
                  <a:pt x="6062663" y="34143"/>
                  <a:pt x="6062663" y="76198"/>
                </a:cubicBezTo>
                <a:lnTo>
                  <a:pt x="6062663" y="647702"/>
                </a:lnTo>
                <a:cubicBezTo>
                  <a:pt x="6062663" y="689757"/>
                  <a:pt x="6028519" y="723900"/>
                  <a:pt x="5986465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22" name="Shape 19"/>
          <p:cNvSpPr/>
          <p:nvPr/>
        </p:nvSpPr>
        <p:spPr>
          <a:xfrm>
            <a:off x="5748338" y="2814638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0" y="0"/>
                </a:moveTo>
                <a:lnTo>
                  <a:pt x="28575" y="0"/>
                </a:lnTo>
                <a:lnTo>
                  <a:pt x="28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7B2FFF"/>
          </a:solidFill>
          <a:ln/>
        </p:spPr>
      </p:sp>
      <p:sp>
        <p:nvSpPr>
          <p:cNvPr id="23" name="Text 20"/>
          <p:cNvSpPr/>
          <p:nvPr/>
        </p:nvSpPr>
        <p:spPr>
          <a:xfrm>
            <a:off x="5915025" y="2974181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🏥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33617" y="296703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6,500+ US Hospitals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33617" y="3195638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Neurosurgery + pre-operative planning market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748338" y="3648075"/>
            <a:ext cx="6062663" cy="723900"/>
          </a:xfrm>
          <a:custGeom>
            <a:avLst/>
            <a:gdLst/>
            <a:ahLst/>
            <a:cxnLst/>
            <a:rect l="l" t="t" r="r" b="b"/>
            <a:pathLst>
              <a:path w="6062663" h="723900">
                <a:moveTo>
                  <a:pt x="0" y="0"/>
                </a:moveTo>
                <a:lnTo>
                  <a:pt x="5986465" y="0"/>
                </a:lnTo>
                <a:cubicBezTo>
                  <a:pt x="6028519" y="0"/>
                  <a:pt x="6062663" y="34143"/>
                  <a:pt x="6062663" y="76198"/>
                </a:cubicBezTo>
                <a:lnTo>
                  <a:pt x="6062663" y="647702"/>
                </a:lnTo>
                <a:cubicBezTo>
                  <a:pt x="6062663" y="689757"/>
                  <a:pt x="6028519" y="723900"/>
                  <a:pt x="5986465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27" name="Shape 24"/>
          <p:cNvSpPr/>
          <p:nvPr/>
        </p:nvSpPr>
        <p:spPr>
          <a:xfrm>
            <a:off x="5748338" y="3648075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0" y="0"/>
                </a:moveTo>
                <a:lnTo>
                  <a:pt x="28575" y="0"/>
                </a:lnTo>
                <a:lnTo>
                  <a:pt x="28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  <a:ln/>
        </p:spPr>
      </p:sp>
      <p:sp>
        <p:nvSpPr>
          <p:cNvPr id="28" name="Text 25"/>
          <p:cNvSpPr/>
          <p:nvPr/>
        </p:nvSpPr>
        <p:spPr>
          <a:xfrm>
            <a:off x="5915025" y="3807619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💊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33617" y="3800475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$4B Pharma Training Annual Spend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33617" y="4029075"/>
            <a:ext cx="2862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Neurological drug reps — highest possible margins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748338" y="4481513"/>
            <a:ext cx="6062663" cy="723900"/>
          </a:xfrm>
          <a:custGeom>
            <a:avLst/>
            <a:gdLst/>
            <a:ahLst/>
            <a:cxnLst/>
            <a:rect l="l" t="t" r="r" b="b"/>
            <a:pathLst>
              <a:path w="6062663" h="723900">
                <a:moveTo>
                  <a:pt x="0" y="0"/>
                </a:moveTo>
                <a:lnTo>
                  <a:pt x="5986465" y="0"/>
                </a:lnTo>
                <a:cubicBezTo>
                  <a:pt x="6028519" y="0"/>
                  <a:pt x="6062663" y="34143"/>
                  <a:pt x="6062663" y="76198"/>
                </a:cubicBezTo>
                <a:lnTo>
                  <a:pt x="6062663" y="647702"/>
                </a:lnTo>
                <a:cubicBezTo>
                  <a:pt x="6062663" y="689757"/>
                  <a:pt x="6028519" y="723900"/>
                  <a:pt x="5986465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32" name="Shape 29"/>
          <p:cNvSpPr/>
          <p:nvPr/>
        </p:nvSpPr>
        <p:spPr>
          <a:xfrm>
            <a:off x="5748338" y="4481513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0" y="0"/>
                </a:moveTo>
                <a:lnTo>
                  <a:pt x="28575" y="0"/>
                </a:lnTo>
                <a:lnTo>
                  <a:pt x="28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33" name="Text 30"/>
          <p:cNvSpPr/>
          <p:nvPr/>
        </p:nvSpPr>
        <p:spPr>
          <a:xfrm>
            <a:off x="5915025" y="4641056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⚖️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33617" y="4633913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Forensic Legal Reconstruction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33617" y="4862513"/>
            <a:ext cx="23002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$800M expert witness testimony industry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748338" y="5314950"/>
            <a:ext cx="6062663" cy="723900"/>
          </a:xfrm>
          <a:custGeom>
            <a:avLst/>
            <a:gdLst/>
            <a:ahLst/>
            <a:cxnLst/>
            <a:rect l="l" t="t" r="r" b="b"/>
            <a:pathLst>
              <a:path w="6062663" h="723900">
                <a:moveTo>
                  <a:pt x="0" y="0"/>
                </a:moveTo>
                <a:lnTo>
                  <a:pt x="5986465" y="0"/>
                </a:lnTo>
                <a:cubicBezTo>
                  <a:pt x="6028519" y="0"/>
                  <a:pt x="6062663" y="34143"/>
                  <a:pt x="6062663" y="76198"/>
                </a:cubicBezTo>
                <a:lnTo>
                  <a:pt x="6062663" y="647702"/>
                </a:lnTo>
                <a:cubicBezTo>
                  <a:pt x="6062663" y="689757"/>
                  <a:pt x="6028519" y="723900"/>
                  <a:pt x="5986465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37" name="Shape 34"/>
          <p:cNvSpPr/>
          <p:nvPr/>
        </p:nvSpPr>
        <p:spPr>
          <a:xfrm>
            <a:off x="5748338" y="5314950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0" y="0"/>
                </a:moveTo>
                <a:lnTo>
                  <a:pt x="28575" y="0"/>
                </a:lnTo>
                <a:lnTo>
                  <a:pt x="28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38" name="Text 35"/>
          <p:cNvSpPr/>
          <p:nvPr/>
        </p:nvSpPr>
        <p:spPr>
          <a:xfrm>
            <a:off x="5915025" y="5474494"/>
            <a:ext cx="495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🎓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33617" y="546735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Pre-Med + High School Education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33617" y="5695950"/>
            <a:ext cx="29098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7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NeuroSketch Academy tier — 40M+ global students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85763" y="6191250"/>
            <a:ext cx="11420475" cy="571500"/>
          </a:xfrm>
          <a:custGeom>
            <a:avLst/>
            <a:gdLst/>
            <a:ahLst/>
            <a:cxnLst/>
            <a:rect l="l" t="t" r="r" b="b"/>
            <a:pathLst>
              <a:path w="11420475" h="571500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95302"/>
                </a:lnTo>
                <a:cubicBezTo>
                  <a:pt x="11420475" y="537385"/>
                  <a:pt x="11386360" y="571500"/>
                  <a:pt x="113442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1F5FF">
              <a:alpha val="10196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0063" y="6348413"/>
            <a:ext cx="11191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"Every zip code that has a medical school is our customer. That's 3,000+ institutions globally."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1162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BUILT TO SCALE — </a:t>
            </a:r>
            <a:pPr algn="ctr">
              <a:lnSpc>
                <a:spcPct val="130000"/>
              </a:lnSpc>
            </a:pPr>
            <a:r>
              <a:rPr lang="en-US" sz="3000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REVENUE STREAMS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00" y="9906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Predictable. Defensible.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14463" y="1800225"/>
            <a:ext cx="1704975" cy="2171700"/>
          </a:xfrm>
          <a:custGeom>
            <a:avLst/>
            <a:gdLst/>
            <a:ahLst/>
            <a:cxnLst/>
            <a:rect l="l" t="t" r="r" b="b"/>
            <a:pathLst>
              <a:path w="1704975" h="2171700">
                <a:moveTo>
                  <a:pt x="76195" y="0"/>
                </a:moveTo>
                <a:lnTo>
                  <a:pt x="1628780" y="0"/>
                </a:lnTo>
                <a:cubicBezTo>
                  <a:pt x="1670861" y="0"/>
                  <a:pt x="1704975" y="34114"/>
                  <a:pt x="1704975" y="76195"/>
                </a:cubicBezTo>
                <a:lnTo>
                  <a:pt x="1704975" y="2095505"/>
                </a:lnTo>
                <a:cubicBezTo>
                  <a:pt x="1704975" y="2137586"/>
                  <a:pt x="1670861" y="2171700"/>
                  <a:pt x="1628780" y="2171700"/>
                </a:cubicBezTo>
                <a:lnTo>
                  <a:pt x="76195" y="2171700"/>
                </a:lnTo>
                <a:cubicBezTo>
                  <a:pt x="34114" y="2171700"/>
                  <a:pt x="0" y="2137586"/>
                  <a:pt x="0" y="2095505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0F152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8288" y="1957388"/>
            <a:ext cx="1457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71625" y="2195513"/>
            <a:ext cx="1390650" cy="19050"/>
          </a:xfrm>
          <a:custGeom>
            <a:avLst/>
            <a:gdLst/>
            <a:ahLst/>
            <a:cxnLst/>
            <a:rect l="l" t="t" r="r" b="b"/>
            <a:pathLst>
              <a:path w="1390650" h="19050">
                <a:moveTo>
                  <a:pt x="0" y="0"/>
                </a:moveTo>
                <a:lnTo>
                  <a:pt x="1390650" y="0"/>
                </a:lnTo>
                <a:lnTo>
                  <a:pt x="13906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04950" y="2328863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43050" y="27289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/month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1625" y="30146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Anatomy Explorer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71625" y="32242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 Procedures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1625" y="34337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71625" y="36433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Leaderboard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1363" y="1643063"/>
            <a:ext cx="1704975" cy="2333625"/>
          </a:xfrm>
          <a:custGeom>
            <a:avLst/>
            <a:gdLst/>
            <a:ahLst/>
            <a:cxnLst/>
            <a:rect l="l" t="t" r="r" b="b"/>
            <a:pathLst>
              <a:path w="1704975" h="2333625">
                <a:moveTo>
                  <a:pt x="76195" y="0"/>
                </a:moveTo>
                <a:lnTo>
                  <a:pt x="1628780" y="0"/>
                </a:lnTo>
                <a:cubicBezTo>
                  <a:pt x="1670861" y="0"/>
                  <a:pt x="1704975" y="34114"/>
                  <a:pt x="1704975" y="76195"/>
                </a:cubicBezTo>
                <a:lnTo>
                  <a:pt x="1704975" y="2257430"/>
                </a:lnTo>
                <a:cubicBezTo>
                  <a:pt x="1704975" y="2299511"/>
                  <a:pt x="1670861" y="2333625"/>
                  <a:pt x="1628780" y="2333625"/>
                </a:cubicBezTo>
                <a:lnTo>
                  <a:pt x="76195" y="2333625"/>
                </a:lnTo>
                <a:cubicBezTo>
                  <a:pt x="34114" y="2333625"/>
                  <a:pt x="0" y="2299511"/>
                  <a:pt x="0" y="22574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0F152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5188" y="1800225"/>
            <a:ext cx="1457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2331" y="2038350"/>
            <a:ext cx="1443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2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FELLOW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38525" y="2195513"/>
            <a:ext cx="1390650" cy="19050"/>
          </a:xfrm>
          <a:custGeom>
            <a:avLst/>
            <a:gdLst/>
            <a:ahLst/>
            <a:cxnLst/>
            <a:rect l="l" t="t" r="r" b="b"/>
            <a:pathLst>
              <a:path w="1390650" h="19050">
                <a:moveTo>
                  <a:pt x="0" y="0"/>
                </a:moveTo>
                <a:lnTo>
                  <a:pt x="1390650" y="0"/>
                </a:lnTo>
                <a:lnTo>
                  <a:pt x="13906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71850" y="2328863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$49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09950" y="27289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/month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38525" y="30146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Full Library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38525" y="32242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Ghost Surgeon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38525" y="34337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AXON Mentor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38525" y="36433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Surgical Passport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3025" y="1500188"/>
            <a:ext cx="1885950" cy="2466975"/>
          </a:xfrm>
          <a:custGeom>
            <a:avLst/>
            <a:gdLst/>
            <a:ahLst/>
            <a:cxnLst/>
            <a:rect l="l" t="t" r="r" b="b"/>
            <a:pathLst>
              <a:path w="1885950" h="2466975">
                <a:moveTo>
                  <a:pt x="76192" y="0"/>
                </a:moveTo>
                <a:lnTo>
                  <a:pt x="1809758" y="0"/>
                </a:lnTo>
                <a:cubicBezTo>
                  <a:pt x="1851838" y="0"/>
                  <a:pt x="1885950" y="34112"/>
                  <a:pt x="1885950" y="76192"/>
                </a:cubicBezTo>
                <a:lnTo>
                  <a:pt x="1885950" y="2390783"/>
                </a:lnTo>
                <a:cubicBezTo>
                  <a:pt x="1885950" y="2432863"/>
                  <a:pt x="1851838" y="2466975"/>
                  <a:pt x="1809758" y="2466975"/>
                </a:cubicBezTo>
                <a:lnTo>
                  <a:pt x="76192" y="2466975"/>
                </a:lnTo>
                <a:cubicBezTo>
                  <a:pt x="34112" y="2466975"/>
                  <a:pt x="0" y="2432863"/>
                  <a:pt x="0" y="239078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0A1A3A"/>
          </a:solidFill>
          <a:ln w="25400">
            <a:solidFill>
              <a:srgbClr val="00F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9275" y="1395413"/>
            <a:ext cx="933450" cy="361950"/>
          </a:xfrm>
          <a:custGeom>
            <a:avLst/>
            <a:gdLst/>
            <a:ahLst/>
            <a:cxnLst/>
            <a:rect l="l" t="t" r="r" b="b"/>
            <a:pathLst>
              <a:path w="933450" h="361950">
                <a:moveTo>
                  <a:pt x="180975" y="0"/>
                </a:moveTo>
                <a:lnTo>
                  <a:pt x="752475" y="0"/>
                </a:lnTo>
                <a:cubicBezTo>
                  <a:pt x="852358" y="0"/>
                  <a:pt x="933450" y="81092"/>
                  <a:pt x="933450" y="180975"/>
                </a:cubicBezTo>
                <a:lnTo>
                  <a:pt x="933450" y="180975"/>
                </a:lnTo>
                <a:cubicBezTo>
                  <a:pt x="933450" y="280858"/>
                  <a:pt x="852358" y="361950"/>
                  <a:pt x="752475" y="361950"/>
                </a:cubicBezTo>
                <a:lnTo>
                  <a:pt x="180975" y="361950"/>
                </a:lnTo>
                <a:cubicBezTo>
                  <a:pt x="81092" y="361950"/>
                  <a:pt x="0" y="280858"/>
                  <a:pt x="0" y="180975"/>
                </a:cubicBezTo>
                <a:lnTo>
                  <a:pt x="0" y="180975"/>
                </a:lnTo>
                <a:cubicBezTo>
                  <a:pt x="0" y="81092"/>
                  <a:pt x="81092" y="0"/>
                  <a:pt x="180975" y="0"/>
                </a:cubicBez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5605463" y="1395413"/>
            <a:ext cx="981075" cy="3619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30000"/>
              </a:lnSpc>
            </a:pPr>
            <a:r>
              <a:rPr lang="en-US" sz="750" b="1" dirty="0">
                <a:solidFill>
                  <a:srgbClr val="0A0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MOST POPULAR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81613" y="1738313"/>
            <a:ext cx="1628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INSTITUTIONAL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14950" y="1976438"/>
            <a:ext cx="1562100" cy="19050"/>
          </a:xfrm>
          <a:custGeom>
            <a:avLst/>
            <a:gdLst/>
            <a:ahLst/>
            <a:cxnLst/>
            <a:rect l="l" t="t" r="r" b="b"/>
            <a:pathLst>
              <a:path w="1562100" h="19050">
                <a:moveTo>
                  <a:pt x="0" y="0"/>
                </a:moveTo>
                <a:lnTo>
                  <a:pt x="1562100" y="0"/>
                </a:lnTo>
                <a:lnTo>
                  <a:pt x="15621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1F5FF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48275" y="2109788"/>
            <a:ext cx="1695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$3,500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86375" y="2509838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/year per seat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14950" y="2795588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All Features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14950" y="3005138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LMS Integration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14950" y="3214688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Analytics Dashboard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14950" y="3424238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Accreditation Reports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14950" y="3633788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Grand Rounds Hosting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05663" y="1433513"/>
            <a:ext cx="1704975" cy="2543175"/>
          </a:xfrm>
          <a:custGeom>
            <a:avLst/>
            <a:gdLst/>
            <a:ahLst/>
            <a:cxnLst/>
            <a:rect l="l" t="t" r="r" b="b"/>
            <a:pathLst>
              <a:path w="1704975" h="2543175">
                <a:moveTo>
                  <a:pt x="76195" y="0"/>
                </a:moveTo>
                <a:lnTo>
                  <a:pt x="1628780" y="0"/>
                </a:lnTo>
                <a:cubicBezTo>
                  <a:pt x="1670861" y="0"/>
                  <a:pt x="1704975" y="34114"/>
                  <a:pt x="1704975" y="76195"/>
                </a:cubicBezTo>
                <a:lnTo>
                  <a:pt x="1704975" y="2466980"/>
                </a:lnTo>
                <a:cubicBezTo>
                  <a:pt x="1704975" y="2509061"/>
                  <a:pt x="1670861" y="2543175"/>
                  <a:pt x="1628780" y="2543175"/>
                </a:cubicBezTo>
                <a:lnTo>
                  <a:pt x="76195" y="2543175"/>
                </a:lnTo>
                <a:cubicBezTo>
                  <a:pt x="34114" y="2543175"/>
                  <a:pt x="0" y="2509061"/>
                  <a:pt x="0" y="24669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0F152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29488" y="1590675"/>
            <a:ext cx="1457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36631" y="1828800"/>
            <a:ext cx="1443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2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62825" y="1985963"/>
            <a:ext cx="1390650" cy="19050"/>
          </a:xfrm>
          <a:custGeom>
            <a:avLst/>
            <a:gdLst/>
            <a:ahLst/>
            <a:cxnLst/>
            <a:rect l="l" t="t" r="r" b="b"/>
            <a:pathLst>
              <a:path w="1390650" h="19050">
                <a:moveTo>
                  <a:pt x="0" y="0"/>
                </a:moveTo>
                <a:lnTo>
                  <a:pt x="1390650" y="0"/>
                </a:lnTo>
                <a:lnTo>
                  <a:pt x="13906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296150" y="2119313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$15,000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34250" y="25193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/year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62825" y="28051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DICOM Import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62825" y="30146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Pre-Op Planning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62825" y="32242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EHR Integration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62825" y="343376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HIPAA Storage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62825" y="3643313"/>
            <a:ext cx="144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Patient Consent Tool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77325" y="1419225"/>
            <a:ext cx="1695450" cy="2552700"/>
          </a:xfrm>
          <a:custGeom>
            <a:avLst/>
            <a:gdLst/>
            <a:ahLst/>
            <a:cxnLst/>
            <a:rect l="l" t="t" r="r" b="b"/>
            <a:pathLst>
              <a:path w="1695450" h="2552700">
                <a:moveTo>
                  <a:pt x="76194" y="0"/>
                </a:moveTo>
                <a:lnTo>
                  <a:pt x="1619256" y="0"/>
                </a:lnTo>
                <a:cubicBezTo>
                  <a:pt x="1661337" y="0"/>
                  <a:pt x="1695450" y="34113"/>
                  <a:pt x="1695450" y="76194"/>
                </a:cubicBezTo>
                <a:lnTo>
                  <a:pt x="1695450" y="2476506"/>
                </a:lnTo>
                <a:cubicBezTo>
                  <a:pt x="1695450" y="2518587"/>
                  <a:pt x="1661337" y="2552700"/>
                  <a:pt x="1619256" y="2552700"/>
                </a:cubicBezTo>
                <a:lnTo>
                  <a:pt x="76194" y="2552700"/>
                </a:lnTo>
                <a:cubicBezTo>
                  <a:pt x="34113" y="2552700"/>
                  <a:pt x="0" y="2518587"/>
                  <a:pt x="0" y="247650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1A0A2A"/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05913" y="1581150"/>
            <a:ext cx="1438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PHARMA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13056" y="1819275"/>
            <a:ext cx="14239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2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39250" y="1976438"/>
            <a:ext cx="1371600" cy="19050"/>
          </a:xfrm>
          <a:custGeom>
            <a:avLst/>
            <a:gdLst/>
            <a:ahLst/>
            <a:cxnLst/>
            <a:rect l="l" t="t" r="r" b="b"/>
            <a:pathLst>
              <a:path w="1371600" h="19050">
                <a:moveTo>
                  <a:pt x="0" y="0"/>
                </a:moveTo>
                <a:lnTo>
                  <a:pt x="1371600" y="0"/>
                </a:lnTo>
                <a:lnTo>
                  <a:pt x="1371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7B2FFF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72575" y="2109788"/>
            <a:ext cx="1504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$50,000+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10675" y="2509838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/module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39250" y="2795588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Bespoke Disease Sim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39250" y="3005138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White-Label Branding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39250" y="3214688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Custom Procedures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239250" y="3424238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Zero Marginal Cost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239250" y="3633788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Pure Margin Revenue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5763" y="4171950"/>
            <a:ext cx="8143875" cy="2676525"/>
          </a:xfrm>
          <a:custGeom>
            <a:avLst/>
            <a:gdLst/>
            <a:ahLst/>
            <a:cxnLst/>
            <a:rect l="l" t="t" r="r" b="b"/>
            <a:pathLst>
              <a:path w="8143875" h="2676525">
                <a:moveTo>
                  <a:pt x="76201" y="0"/>
                </a:moveTo>
                <a:lnTo>
                  <a:pt x="8067674" y="0"/>
                </a:lnTo>
                <a:cubicBezTo>
                  <a:pt x="8109759" y="0"/>
                  <a:pt x="8143875" y="34116"/>
                  <a:pt x="8143875" y="76201"/>
                </a:cubicBezTo>
                <a:lnTo>
                  <a:pt x="8143875" y="2600324"/>
                </a:lnTo>
                <a:cubicBezTo>
                  <a:pt x="8143875" y="2642409"/>
                  <a:pt x="8109759" y="2676525"/>
                  <a:pt x="8067674" y="2676525"/>
                </a:cubicBezTo>
                <a:lnTo>
                  <a:pt x="76201" y="2676525"/>
                </a:lnTo>
                <a:cubicBezTo>
                  <a:pt x="34116" y="2676525"/>
                  <a:pt x="0" y="2642409"/>
                  <a:pt x="0" y="26003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F0F2A"/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1025" y="4367213"/>
            <a:ext cx="782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PROJECTION (ARR)</a:t>
            </a:r>
            <a:endParaRPr lang="en-US" sz="1600" dirty="0"/>
          </a:p>
        </p:txBody>
      </p:sp>
      <p:pic>
        <p:nvPicPr>
          <p:cNvPr id="59" name="Image 0" descr="https://kimi-img.moonshot.cn/pub/slides/26-02-25-23:00:34-d6fgt4ngt7e21uafrk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4748213"/>
            <a:ext cx="77533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60" name="Shape 57"/>
          <p:cNvSpPr/>
          <p:nvPr/>
        </p:nvSpPr>
        <p:spPr>
          <a:xfrm>
            <a:off x="8767763" y="4171950"/>
            <a:ext cx="3038475" cy="2676525"/>
          </a:xfrm>
          <a:custGeom>
            <a:avLst/>
            <a:gdLst/>
            <a:ahLst/>
            <a:cxnLst/>
            <a:rect l="l" t="t" r="r" b="b"/>
            <a:pathLst>
              <a:path w="3038475" h="2676525">
                <a:moveTo>
                  <a:pt x="76201" y="0"/>
                </a:moveTo>
                <a:lnTo>
                  <a:pt x="2962274" y="0"/>
                </a:lnTo>
                <a:cubicBezTo>
                  <a:pt x="3004359" y="0"/>
                  <a:pt x="3038475" y="34116"/>
                  <a:pt x="3038475" y="76201"/>
                </a:cubicBezTo>
                <a:lnTo>
                  <a:pt x="3038475" y="2600324"/>
                </a:lnTo>
                <a:cubicBezTo>
                  <a:pt x="3038475" y="2642409"/>
                  <a:pt x="3004359" y="2676525"/>
                  <a:pt x="2962274" y="2676525"/>
                </a:cubicBezTo>
                <a:lnTo>
                  <a:pt x="76201" y="2676525"/>
                </a:lnTo>
                <a:cubicBezTo>
                  <a:pt x="34116" y="2676525"/>
                  <a:pt x="0" y="2642409"/>
                  <a:pt x="0" y="26003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F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963025" y="4367213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THIS IS SAFE: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963025" y="4748213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9172575" y="4748213"/>
            <a:ext cx="1743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B2B institutional = low churn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963025" y="5062538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9172575" y="5062538"/>
            <a:ext cx="2238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Pharma modules = enterprise ceiling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963025" y="5376863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9172575" y="5376863"/>
            <a:ext cx="2105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streams = recession-proof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963025" y="5691188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172575" y="5691188"/>
            <a:ext cx="1895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 marginal cost on modules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0" r="70" t="0" b="0"/>
          <a:stretch/>
        </p:blipFill>
        <p:spPr>
          <a:xfrm>
            <a:off x="0" y="0"/>
            <a:ext cx="12192000" cy="6859037"/>
          </a:xfrm>
          <a:prstGeom prst="roundRect">
            <a:avLst>
              <a:gd name="adj" fmla="val 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331755" y="331755"/>
            <a:ext cx="11686073" cy="47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PRODUCTION-GRADE ARCHITECTURE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1755" y="804506"/>
            <a:ext cx="11594841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 to ship. Built to scale.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5902" y="1140408"/>
            <a:ext cx="9994122" cy="1210906"/>
          </a:xfrm>
          <a:custGeom>
            <a:avLst/>
            <a:gdLst/>
            <a:ahLst/>
            <a:cxnLst/>
            <a:rect l="l" t="t" r="r" b="b"/>
            <a:pathLst>
              <a:path w="9994122" h="1210906">
                <a:moveTo>
                  <a:pt x="66346" y="0"/>
                </a:moveTo>
                <a:lnTo>
                  <a:pt x="9927777" y="0"/>
                </a:lnTo>
                <a:cubicBezTo>
                  <a:pt x="9964419" y="0"/>
                  <a:pt x="9994122" y="29704"/>
                  <a:pt x="9994122" y="66346"/>
                </a:cubicBezTo>
                <a:lnTo>
                  <a:pt x="9994122" y="1144561"/>
                </a:lnTo>
                <a:cubicBezTo>
                  <a:pt x="9994122" y="1181202"/>
                  <a:pt x="9964419" y="1210906"/>
                  <a:pt x="9927777" y="1210906"/>
                </a:cubicBezTo>
                <a:lnTo>
                  <a:pt x="66346" y="1210906"/>
                </a:lnTo>
                <a:cubicBezTo>
                  <a:pt x="29704" y="1210906"/>
                  <a:pt x="0" y="1181202"/>
                  <a:pt x="0" y="1144561"/>
                </a:cubicBezTo>
                <a:lnTo>
                  <a:pt x="0" y="66346"/>
                </a:lnTo>
                <a:cubicBezTo>
                  <a:pt x="0" y="29728"/>
                  <a:pt x="29728" y="0"/>
                  <a:pt x="66346" y="0"/>
                </a:cubicBezTo>
                <a:close/>
              </a:path>
            </a:pathLst>
          </a:custGeom>
          <a:solidFill>
            <a:srgbClr val="0A1525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-5400000">
            <a:off x="466336" y="1457843"/>
            <a:ext cx="613747" cy="12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53" b="1" spc="33" kern="0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LAYER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5453" y="1277257"/>
            <a:ext cx="4752392" cy="17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4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🖊️ MX Ink Stylus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5453" y="1517780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4,096 pressure levels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5453" y="1700245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Tilt detection 0–60°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5453" y="1882710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Side button mode cycling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5453" y="2065176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Sub-mm position tracking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99748" y="1277257"/>
            <a:ext cx="4752392" cy="17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4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🥽 Meta Quest 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99748" y="1517780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Unity 2023 LTS + URP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99748" y="1700245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Meta Presence Platform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99748" y="1882710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MR Passthrough rendering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99748" y="2065176"/>
            <a:ext cx="4744098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90Hz display sync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19735" y="2454988"/>
            <a:ext cx="1227494" cy="207347"/>
          </a:xfrm>
          <a:custGeom>
            <a:avLst/>
            <a:gdLst/>
            <a:ahLst/>
            <a:cxnLst/>
            <a:rect l="l" t="t" r="r" b="b"/>
            <a:pathLst>
              <a:path w="1227494" h="207347">
                <a:moveTo>
                  <a:pt x="103673" y="0"/>
                </a:moveTo>
                <a:lnTo>
                  <a:pt x="1123820" y="0"/>
                </a:lnTo>
                <a:cubicBezTo>
                  <a:pt x="1181078" y="0"/>
                  <a:pt x="1227494" y="46416"/>
                  <a:pt x="1227494" y="103673"/>
                </a:cubicBezTo>
                <a:lnTo>
                  <a:pt x="1227494" y="103673"/>
                </a:lnTo>
                <a:cubicBezTo>
                  <a:pt x="1227494" y="160931"/>
                  <a:pt x="1181078" y="207347"/>
                  <a:pt x="1123820" y="207347"/>
                </a:cubicBezTo>
                <a:lnTo>
                  <a:pt x="103673" y="207347"/>
                </a:lnTo>
                <a:cubicBezTo>
                  <a:pt x="46455" y="207347"/>
                  <a:pt x="0" y="160892"/>
                  <a:pt x="0" y="103673"/>
                </a:cubicBezTo>
                <a:lnTo>
                  <a:pt x="0" y="103673"/>
                </a:lnTo>
                <a:cubicBezTo>
                  <a:pt x="0" y="46455"/>
                  <a:pt x="46455" y="0"/>
                  <a:pt x="103673" y="0"/>
                </a:cubicBezTo>
                <a:close/>
              </a:path>
            </a:pathLst>
          </a:custGeom>
          <a:solidFill>
            <a:srgbClr val="01F5FF">
              <a:alpha val="1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719735" y="2454988"/>
            <a:ext cx="1273110" cy="207347"/>
          </a:xfrm>
          <a:prstGeom prst="rect">
            <a:avLst/>
          </a:prstGeom>
          <a:noFill/>
          <a:ln/>
        </p:spPr>
        <p:txBody>
          <a:bodyPr wrap="square" lIns="99527" tIns="33176" rIns="99527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WebSocket / REST API ↓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35902" y="2761861"/>
            <a:ext cx="9994122" cy="2015412"/>
          </a:xfrm>
          <a:custGeom>
            <a:avLst/>
            <a:gdLst/>
            <a:ahLst/>
            <a:cxnLst/>
            <a:rect l="l" t="t" r="r" b="b"/>
            <a:pathLst>
              <a:path w="9994122" h="2015412">
                <a:moveTo>
                  <a:pt x="66347" y="0"/>
                </a:moveTo>
                <a:lnTo>
                  <a:pt x="9927775" y="0"/>
                </a:lnTo>
                <a:cubicBezTo>
                  <a:pt x="9964418" y="0"/>
                  <a:pt x="9994122" y="29705"/>
                  <a:pt x="9994122" y="66347"/>
                </a:cubicBezTo>
                <a:lnTo>
                  <a:pt x="9994122" y="1949065"/>
                </a:lnTo>
                <a:cubicBezTo>
                  <a:pt x="9994122" y="1985708"/>
                  <a:pt x="9964418" y="2015412"/>
                  <a:pt x="9927775" y="2015412"/>
                </a:cubicBezTo>
                <a:lnTo>
                  <a:pt x="66347" y="2015412"/>
                </a:lnTo>
                <a:cubicBezTo>
                  <a:pt x="29705" y="2015412"/>
                  <a:pt x="0" y="1985708"/>
                  <a:pt x="0" y="1949065"/>
                </a:cubicBezTo>
                <a:lnTo>
                  <a:pt x="0" y="66347"/>
                </a:lnTo>
                <a:cubicBezTo>
                  <a:pt x="0" y="29729"/>
                  <a:pt x="29729" y="0"/>
                  <a:pt x="66347" y="0"/>
                </a:cubicBezTo>
                <a:close/>
              </a:path>
            </a:pathLst>
          </a:custGeom>
          <a:solidFill>
            <a:srgbClr val="0A0A2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 rot="-5400000">
            <a:off x="388452" y="3559434"/>
            <a:ext cx="464457" cy="12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53" b="1" spc="33" kern="0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LAYER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5453" y="2898710"/>
            <a:ext cx="4727510" cy="804506"/>
          </a:xfrm>
          <a:custGeom>
            <a:avLst/>
            <a:gdLst/>
            <a:ahLst/>
            <a:cxnLst/>
            <a:rect l="l" t="t" r="r" b="b"/>
            <a:pathLst>
              <a:path w="4727510" h="804506">
                <a:moveTo>
                  <a:pt x="33178" y="0"/>
                </a:moveTo>
                <a:lnTo>
                  <a:pt x="4694332" y="0"/>
                </a:lnTo>
                <a:cubicBezTo>
                  <a:pt x="4712656" y="0"/>
                  <a:pt x="4727510" y="14854"/>
                  <a:pt x="4727510" y="33178"/>
                </a:cubicBezTo>
                <a:lnTo>
                  <a:pt x="4727510" y="771328"/>
                </a:lnTo>
                <a:cubicBezTo>
                  <a:pt x="4727510" y="789652"/>
                  <a:pt x="4712656" y="804506"/>
                  <a:pt x="4694332" y="804506"/>
                </a:cubicBezTo>
                <a:lnTo>
                  <a:pt x="33178" y="804506"/>
                </a:lnTo>
                <a:cubicBezTo>
                  <a:pt x="14866" y="804506"/>
                  <a:pt x="0" y="789640"/>
                  <a:pt x="0" y="771328"/>
                </a:cubicBezTo>
                <a:lnTo>
                  <a:pt x="0" y="33178"/>
                </a:lnTo>
                <a:cubicBezTo>
                  <a:pt x="0" y="14866"/>
                  <a:pt x="14866" y="0"/>
                  <a:pt x="33178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22" name="Text 19"/>
          <p:cNvSpPr/>
          <p:nvPr/>
        </p:nvSpPr>
        <p:spPr>
          <a:xfrm>
            <a:off x="704980" y="2998237"/>
            <a:ext cx="458236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49" b="1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AXON AI Mentor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4980" y="3193143"/>
            <a:ext cx="4574073" cy="414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Fine-tuned LLM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Socratic Q&amp;A system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Learner profile builder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66572" y="2898710"/>
            <a:ext cx="4727510" cy="804506"/>
          </a:xfrm>
          <a:custGeom>
            <a:avLst/>
            <a:gdLst/>
            <a:ahLst/>
            <a:cxnLst/>
            <a:rect l="l" t="t" r="r" b="b"/>
            <a:pathLst>
              <a:path w="4727510" h="804506">
                <a:moveTo>
                  <a:pt x="33178" y="0"/>
                </a:moveTo>
                <a:lnTo>
                  <a:pt x="4694332" y="0"/>
                </a:lnTo>
                <a:cubicBezTo>
                  <a:pt x="4712656" y="0"/>
                  <a:pt x="4727510" y="14854"/>
                  <a:pt x="4727510" y="33178"/>
                </a:cubicBezTo>
                <a:lnTo>
                  <a:pt x="4727510" y="771328"/>
                </a:lnTo>
                <a:cubicBezTo>
                  <a:pt x="4727510" y="789652"/>
                  <a:pt x="4712656" y="804506"/>
                  <a:pt x="4694332" y="804506"/>
                </a:cubicBezTo>
                <a:lnTo>
                  <a:pt x="33178" y="804506"/>
                </a:lnTo>
                <a:cubicBezTo>
                  <a:pt x="14866" y="804506"/>
                  <a:pt x="0" y="789640"/>
                  <a:pt x="0" y="771328"/>
                </a:cubicBezTo>
                <a:lnTo>
                  <a:pt x="0" y="33178"/>
                </a:lnTo>
                <a:cubicBezTo>
                  <a:pt x="0" y="14866"/>
                  <a:pt x="14866" y="0"/>
                  <a:pt x="33178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25" name="Text 22"/>
          <p:cNvSpPr/>
          <p:nvPr/>
        </p:nvSpPr>
        <p:spPr>
          <a:xfrm>
            <a:off x="5566099" y="2998237"/>
            <a:ext cx="458236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49" b="1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Pathophysiology Engine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66099" y="3193143"/>
            <a:ext cx="4574073" cy="414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 tumor/stroke models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Disease sandbox renderer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Treatment response AI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05453" y="3835918"/>
            <a:ext cx="4727510" cy="804506"/>
          </a:xfrm>
          <a:custGeom>
            <a:avLst/>
            <a:gdLst/>
            <a:ahLst/>
            <a:cxnLst/>
            <a:rect l="l" t="t" r="r" b="b"/>
            <a:pathLst>
              <a:path w="4727510" h="804506">
                <a:moveTo>
                  <a:pt x="33178" y="0"/>
                </a:moveTo>
                <a:lnTo>
                  <a:pt x="4694332" y="0"/>
                </a:lnTo>
                <a:cubicBezTo>
                  <a:pt x="4712656" y="0"/>
                  <a:pt x="4727510" y="14854"/>
                  <a:pt x="4727510" y="33178"/>
                </a:cubicBezTo>
                <a:lnTo>
                  <a:pt x="4727510" y="771328"/>
                </a:lnTo>
                <a:cubicBezTo>
                  <a:pt x="4727510" y="789652"/>
                  <a:pt x="4712656" y="804506"/>
                  <a:pt x="4694332" y="804506"/>
                </a:cubicBezTo>
                <a:lnTo>
                  <a:pt x="33178" y="804506"/>
                </a:lnTo>
                <a:cubicBezTo>
                  <a:pt x="14866" y="804506"/>
                  <a:pt x="0" y="789640"/>
                  <a:pt x="0" y="771328"/>
                </a:cubicBezTo>
                <a:lnTo>
                  <a:pt x="0" y="33178"/>
                </a:lnTo>
                <a:cubicBezTo>
                  <a:pt x="0" y="14866"/>
                  <a:pt x="14866" y="0"/>
                  <a:pt x="33178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28" name="Text 25"/>
          <p:cNvSpPr/>
          <p:nvPr/>
        </p:nvSpPr>
        <p:spPr>
          <a:xfrm>
            <a:off x="704980" y="3935445"/>
            <a:ext cx="458236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49" b="1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Procedure Scorer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04980" y="4130351"/>
            <a:ext cx="4574073" cy="414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Ghost path deviation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Scored in millimeters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feedback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66572" y="3835918"/>
            <a:ext cx="4727510" cy="804506"/>
          </a:xfrm>
          <a:custGeom>
            <a:avLst/>
            <a:gdLst/>
            <a:ahLst/>
            <a:cxnLst/>
            <a:rect l="l" t="t" r="r" b="b"/>
            <a:pathLst>
              <a:path w="4727510" h="804506">
                <a:moveTo>
                  <a:pt x="33178" y="0"/>
                </a:moveTo>
                <a:lnTo>
                  <a:pt x="4694332" y="0"/>
                </a:lnTo>
                <a:cubicBezTo>
                  <a:pt x="4712656" y="0"/>
                  <a:pt x="4727510" y="14854"/>
                  <a:pt x="4727510" y="33178"/>
                </a:cubicBezTo>
                <a:lnTo>
                  <a:pt x="4727510" y="771328"/>
                </a:lnTo>
                <a:cubicBezTo>
                  <a:pt x="4727510" y="789652"/>
                  <a:pt x="4712656" y="804506"/>
                  <a:pt x="4694332" y="804506"/>
                </a:cubicBezTo>
                <a:lnTo>
                  <a:pt x="33178" y="804506"/>
                </a:lnTo>
                <a:cubicBezTo>
                  <a:pt x="14866" y="804506"/>
                  <a:pt x="0" y="789640"/>
                  <a:pt x="0" y="771328"/>
                </a:cubicBezTo>
                <a:lnTo>
                  <a:pt x="0" y="33178"/>
                </a:lnTo>
                <a:cubicBezTo>
                  <a:pt x="0" y="14866"/>
                  <a:pt x="14866" y="0"/>
                  <a:pt x="33178" y="0"/>
                </a:cubicBezTo>
                <a:close/>
              </a:path>
            </a:pathLst>
          </a:custGeom>
          <a:solidFill>
            <a:srgbClr val="0F0F2A"/>
          </a:solidFill>
          <a:ln/>
        </p:spPr>
      </p:sp>
      <p:sp>
        <p:nvSpPr>
          <p:cNvPr id="31" name="Text 28"/>
          <p:cNvSpPr/>
          <p:nvPr/>
        </p:nvSpPr>
        <p:spPr>
          <a:xfrm>
            <a:off x="5566099" y="3935445"/>
            <a:ext cx="458236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49" b="1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Adaptive Difficulty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566099" y="4130351"/>
            <a:ext cx="4574073" cy="414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10-session rolling avg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Complication probability tuner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Never bored / overwhelmed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816021" y="4880947"/>
            <a:ext cx="1036735" cy="207347"/>
          </a:xfrm>
          <a:custGeom>
            <a:avLst/>
            <a:gdLst/>
            <a:ahLst/>
            <a:cxnLst/>
            <a:rect l="l" t="t" r="r" b="b"/>
            <a:pathLst>
              <a:path w="1036735" h="207347">
                <a:moveTo>
                  <a:pt x="103673" y="0"/>
                </a:moveTo>
                <a:lnTo>
                  <a:pt x="933061" y="0"/>
                </a:lnTo>
                <a:cubicBezTo>
                  <a:pt x="990319" y="0"/>
                  <a:pt x="1036735" y="46416"/>
                  <a:pt x="1036735" y="103673"/>
                </a:cubicBezTo>
                <a:lnTo>
                  <a:pt x="1036735" y="103673"/>
                </a:lnTo>
                <a:cubicBezTo>
                  <a:pt x="1036735" y="160931"/>
                  <a:pt x="990319" y="207347"/>
                  <a:pt x="933061" y="207347"/>
                </a:cubicBezTo>
                <a:lnTo>
                  <a:pt x="103673" y="207347"/>
                </a:lnTo>
                <a:cubicBezTo>
                  <a:pt x="46455" y="207347"/>
                  <a:pt x="0" y="160892"/>
                  <a:pt x="0" y="103673"/>
                </a:cubicBezTo>
                <a:lnTo>
                  <a:pt x="0" y="103673"/>
                </a:lnTo>
                <a:cubicBezTo>
                  <a:pt x="0" y="46455"/>
                  <a:pt x="46455" y="0"/>
                  <a:pt x="103673" y="0"/>
                </a:cubicBezTo>
                <a:close/>
              </a:path>
            </a:pathLst>
          </a:custGeom>
          <a:solidFill>
            <a:srgbClr val="7B2FFF">
              <a:alpha val="10196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816021" y="4880947"/>
            <a:ext cx="1082351" cy="207347"/>
          </a:xfrm>
          <a:prstGeom prst="rect">
            <a:avLst/>
          </a:prstGeom>
          <a:noFill/>
          <a:ln/>
        </p:spPr>
        <p:txBody>
          <a:bodyPr wrap="square" lIns="99527" tIns="33176" rIns="99527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 API Gateway ↓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35902" y="5187820"/>
            <a:ext cx="9994122" cy="928914"/>
          </a:xfrm>
          <a:custGeom>
            <a:avLst/>
            <a:gdLst/>
            <a:ahLst/>
            <a:cxnLst/>
            <a:rect l="l" t="t" r="r" b="b"/>
            <a:pathLst>
              <a:path w="9994122" h="928914">
                <a:moveTo>
                  <a:pt x="66352" y="0"/>
                </a:moveTo>
                <a:lnTo>
                  <a:pt x="9927770" y="0"/>
                </a:lnTo>
                <a:cubicBezTo>
                  <a:pt x="9964415" y="0"/>
                  <a:pt x="9994122" y="29707"/>
                  <a:pt x="9994122" y="66352"/>
                </a:cubicBezTo>
                <a:lnTo>
                  <a:pt x="9994122" y="862562"/>
                </a:lnTo>
                <a:cubicBezTo>
                  <a:pt x="9994122" y="899207"/>
                  <a:pt x="9964415" y="928914"/>
                  <a:pt x="9927770" y="928914"/>
                </a:cubicBezTo>
                <a:lnTo>
                  <a:pt x="66352" y="928914"/>
                </a:lnTo>
                <a:cubicBezTo>
                  <a:pt x="29707" y="928914"/>
                  <a:pt x="0" y="899207"/>
                  <a:pt x="0" y="862562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solidFill>
            <a:srgbClr val="0A1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 rot="-5400000">
            <a:off x="315394" y="5515202"/>
            <a:ext cx="315167" cy="124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53" b="1" spc="33" kern="0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05453" y="5324669"/>
            <a:ext cx="3118498" cy="17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4" b="1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 S3 HIPAA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05453" y="5532016"/>
            <a:ext cx="3110204" cy="44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DICOM storage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HIPAA compliant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EHR integration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868316" y="5324669"/>
            <a:ext cx="3118498" cy="17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4" b="1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Photon Fusion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868316" y="5532016"/>
            <a:ext cx="3110204" cy="44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6-user real-time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90Hz sync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&lt;20ms latency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131180" y="5324669"/>
            <a:ext cx="3118498" cy="17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4" b="1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Slicer Pipeline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131180" y="5532016"/>
            <a:ext cx="3110204" cy="44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DICOM → 3D mesh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Auto-segmentation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8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&lt;4 min processing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535039" y="1136261"/>
            <a:ext cx="1385078" cy="174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0539186" y="1447282"/>
            <a:ext cx="539102" cy="199053"/>
          </a:xfrm>
          <a:custGeom>
            <a:avLst/>
            <a:gdLst/>
            <a:ahLst/>
            <a:cxnLst/>
            <a:rect l="l" t="t" r="r" b="b"/>
            <a:pathLst>
              <a:path w="539102" h="199053">
                <a:moveTo>
                  <a:pt x="33176" y="0"/>
                </a:moveTo>
                <a:lnTo>
                  <a:pt x="505926" y="0"/>
                </a:lnTo>
                <a:cubicBezTo>
                  <a:pt x="524249" y="0"/>
                  <a:pt x="539102" y="14853"/>
                  <a:pt x="539102" y="33176"/>
                </a:cubicBezTo>
                <a:lnTo>
                  <a:pt x="539102" y="165877"/>
                </a:lnTo>
                <a:cubicBezTo>
                  <a:pt x="539102" y="184200"/>
                  <a:pt x="524249" y="199053"/>
                  <a:pt x="505926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535039" y="1443135"/>
            <a:ext cx="572278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2023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1151378" y="1447282"/>
            <a:ext cx="655216" cy="199053"/>
          </a:xfrm>
          <a:custGeom>
            <a:avLst/>
            <a:gdLst/>
            <a:ahLst/>
            <a:cxnLst/>
            <a:rect l="l" t="t" r="r" b="b"/>
            <a:pathLst>
              <a:path w="655216" h="199053">
                <a:moveTo>
                  <a:pt x="33176" y="0"/>
                </a:moveTo>
                <a:lnTo>
                  <a:pt x="622040" y="0"/>
                </a:lnTo>
                <a:cubicBezTo>
                  <a:pt x="640363" y="0"/>
                  <a:pt x="655216" y="14853"/>
                  <a:pt x="655216" y="33176"/>
                </a:cubicBezTo>
                <a:lnTo>
                  <a:pt x="655216" y="165877"/>
                </a:lnTo>
                <a:cubicBezTo>
                  <a:pt x="655216" y="184200"/>
                  <a:pt x="640363" y="199053"/>
                  <a:pt x="622040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1147231" y="1443135"/>
            <a:ext cx="688392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XR SDK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0539186" y="1720980"/>
            <a:ext cx="588865" cy="199053"/>
          </a:xfrm>
          <a:custGeom>
            <a:avLst/>
            <a:gdLst/>
            <a:ahLst/>
            <a:cxnLst/>
            <a:rect l="l" t="t" r="r" b="b"/>
            <a:pathLst>
              <a:path w="588865" h="199053">
                <a:moveTo>
                  <a:pt x="33176" y="0"/>
                </a:moveTo>
                <a:lnTo>
                  <a:pt x="555689" y="0"/>
                </a:lnTo>
                <a:cubicBezTo>
                  <a:pt x="574012" y="0"/>
                  <a:pt x="588865" y="14853"/>
                  <a:pt x="588865" y="33176"/>
                </a:cubicBezTo>
                <a:lnTo>
                  <a:pt x="588865" y="165877"/>
                </a:lnTo>
                <a:cubicBezTo>
                  <a:pt x="588865" y="184200"/>
                  <a:pt x="574012" y="199053"/>
                  <a:pt x="555689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1A2A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535039" y="1716833"/>
            <a:ext cx="622041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MX Ink SDK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11206519" y="1720980"/>
            <a:ext cx="447869" cy="199053"/>
          </a:xfrm>
          <a:custGeom>
            <a:avLst/>
            <a:gdLst/>
            <a:ahLst/>
            <a:cxnLst/>
            <a:rect l="l" t="t" r="r" b="b"/>
            <a:pathLst>
              <a:path w="447869" h="199053">
                <a:moveTo>
                  <a:pt x="33176" y="0"/>
                </a:moveTo>
                <a:lnTo>
                  <a:pt x="414693" y="0"/>
                </a:lnTo>
                <a:cubicBezTo>
                  <a:pt x="433016" y="0"/>
                  <a:pt x="447869" y="14853"/>
                  <a:pt x="447869" y="33176"/>
                </a:cubicBezTo>
                <a:lnTo>
                  <a:pt x="447869" y="165877"/>
                </a:lnTo>
                <a:cubicBezTo>
                  <a:pt x="447869" y="184200"/>
                  <a:pt x="433016" y="199053"/>
                  <a:pt x="414693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0F2A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202372" y="1716833"/>
            <a:ext cx="481045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0539186" y="1994678"/>
            <a:ext cx="439576" cy="199053"/>
          </a:xfrm>
          <a:custGeom>
            <a:avLst/>
            <a:gdLst/>
            <a:ahLst/>
            <a:cxnLst/>
            <a:rect l="l" t="t" r="r" b="b"/>
            <a:pathLst>
              <a:path w="439576" h="199053">
                <a:moveTo>
                  <a:pt x="33176" y="0"/>
                </a:moveTo>
                <a:lnTo>
                  <a:pt x="406399" y="0"/>
                </a:lnTo>
                <a:cubicBezTo>
                  <a:pt x="424722" y="0"/>
                  <a:pt x="439576" y="14853"/>
                  <a:pt x="439576" y="33176"/>
                </a:cubicBezTo>
                <a:lnTo>
                  <a:pt x="439576" y="165877"/>
                </a:lnTo>
                <a:cubicBezTo>
                  <a:pt x="439576" y="184200"/>
                  <a:pt x="424722" y="199053"/>
                  <a:pt x="406399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0F2A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535039" y="1990531"/>
            <a:ext cx="472751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1049842" y="1994678"/>
            <a:ext cx="671804" cy="199053"/>
          </a:xfrm>
          <a:custGeom>
            <a:avLst/>
            <a:gdLst/>
            <a:ahLst/>
            <a:cxnLst/>
            <a:rect l="l" t="t" r="r" b="b"/>
            <a:pathLst>
              <a:path w="671804" h="199053">
                <a:moveTo>
                  <a:pt x="33176" y="0"/>
                </a:moveTo>
                <a:lnTo>
                  <a:pt x="638628" y="0"/>
                </a:lnTo>
                <a:cubicBezTo>
                  <a:pt x="656951" y="0"/>
                  <a:pt x="671804" y="14853"/>
                  <a:pt x="671804" y="33176"/>
                </a:cubicBezTo>
                <a:lnTo>
                  <a:pt x="671804" y="165877"/>
                </a:lnTo>
                <a:cubicBezTo>
                  <a:pt x="671804" y="184200"/>
                  <a:pt x="656951" y="199053"/>
                  <a:pt x="638628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A0F2A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045695" y="1990531"/>
            <a:ext cx="704980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Photon Fusion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539186" y="2268376"/>
            <a:ext cx="331755" cy="199053"/>
          </a:xfrm>
          <a:custGeom>
            <a:avLst/>
            <a:gdLst/>
            <a:ahLst/>
            <a:cxnLst/>
            <a:rect l="l" t="t" r="r" b="b"/>
            <a:pathLst>
              <a:path w="331755" h="199053">
                <a:moveTo>
                  <a:pt x="33176" y="0"/>
                </a:moveTo>
                <a:lnTo>
                  <a:pt x="298579" y="0"/>
                </a:lnTo>
                <a:cubicBezTo>
                  <a:pt x="316902" y="0"/>
                  <a:pt x="331755" y="14853"/>
                  <a:pt x="331755" y="33176"/>
                </a:cubicBezTo>
                <a:lnTo>
                  <a:pt x="331755" y="165877"/>
                </a:lnTo>
                <a:cubicBezTo>
                  <a:pt x="331755" y="184200"/>
                  <a:pt x="316902" y="199053"/>
                  <a:pt x="298579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35039" y="2264229"/>
            <a:ext cx="364931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0943771" y="2268376"/>
            <a:ext cx="481045" cy="199053"/>
          </a:xfrm>
          <a:custGeom>
            <a:avLst/>
            <a:gdLst/>
            <a:ahLst/>
            <a:cxnLst/>
            <a:rect l="l" t="t" r="r" b="b"/>
            <a:pathLst>
              <a:path w="481045" h="199053">
                <a:moveTo>
                  <a:pt x="33176" y="0"/>
                </a:moveTo>
                <a:lnTo>
                  <a:pt x="447869" y="0"/>
                </a:lnTo>
                <a:cubicBezTo>
                  <a:pt x="466191" y="0"/>
                  <a:pt x="481045" y="14853"/>
                  <a:pt x="481045" y="33176"/>
                </a:cubicBezTo>
                <a:lnTo>
                  <a:pt x="481045" y="165877"/>
                </a:lnTo>
                <a:cubicBezTo>
                  <a:pt x="481045" y="184200"/>
                  <a:pt x="466191" y="199053"/>
                  <a:pt x="447869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939624" y="2264229"/>
            <a:ext cx="514220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Slicer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0539186" y="2542073"/>
            <a:ext cx="456163" cy="199053"/>
          </a:xfrm>
          <a:custGeom>
            <a:avLst/>
            <a:gdLst/>
            <a:ahLst/>
            <a:cxnLst/>
            <a:rect l="l" t="t" r="r" b="b"/>
            <a:pathLst>
              <a:path w="456163" h="199053">
                <a:moveTo>
                  <a:pt x="33176" y="0"/>
                </a:moveTo>
                <a:lnTo>
                  <a:pt x="422987" y="0"/>
                </a:lnTo>
                <a:cubicBezTo>
                  <a:pt x="441310" y="0"/>
                  <a:pt x="456163" y="14853"/>
                  <a:pt x="456163" y="33176"/>
                </a:cubicBezTo>
                <a:lnTo>
                  <a:pt x="456163" y="165877"/>
                </a:lnTo>
                <a:cubicBezTo>
                  <a:pt x="456163" y="184200"/>
                  <a:pt x="441310" y="199053"/>
                  <a:pt x="422987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535039" y="2537927"/>
            <a:ext cx="489339" cy="190759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653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OpenXR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35902" y="6224555"/>
            <a:ext cx="11520196" cy="630335"/>
          </a:xfrm>
          <a:custGeom>
            <a:avLst/>
            <a:gdLst/>
            <a:ahLst/>
            <a:cxnLst/>
            <a:rect l="l" t="t" r="r" b="b"/>
            <a:pathLst>
              <a:path w="11520196" h="630335">
                <a:moveTo>
                  <a:pt x="66349" y="0"/>
                </a:moveTo>
                <a:lnTo>
                  <a:pt x="11453847" y="0"/>
                </a:lnTo>
                <a:cubicBezTo>
                  <a:pt x="11490490" y="0"/>
                  <a:pt x="11520196" y="29705"/>
                  <a:pt x="11520196" y="66349"/>
                </a:cubicBezTo>
                <a:lnTo>
                  <a:pt x="11520196" y="563986"/>
                </a:lnTo>
                <a:cubicBezTo>
                  <a:pt x="11520196" y="600629"/>
                  <a:pt x="11490490" y="630335"/>
                  <a:pt x="11453847" y="630335"/>
                </a:cubicBezTo>
                <a:lnTo>
                  <a:pt x="66349" y="630335"/>
                </a:lnTo>
                <a:cubicBezTo>
                  <a:pt x="29705" y="630335"/>
                  <a:pt x="0" y="600629"/>
                  <a:pt x="0" y="563986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1A1A0A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9576" y="6328229"/>
            <a:ext cx="11362612" cy="14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4" b="1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MVP IN 6 WEEKS: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39576" y="6543869"/>
            <a:ext cx="431282" cy="207347"/>
          </a:xfrm>
          <a:custGeom>
            <a:avLst/>
            <a:gdLst/>
            <a:ahLst/>
            <a:cxnLst/>
            <a:rect l="l" t="t" r="r" b="b"/>
            <a:pathLst>
              <a:path w="431282" h="207347">
                <a:moveTo>
                  <a:pt x="33176" y="0"/>
                </a:moveTo>
                <a:lnTo>
                  <a:pt x="398106" y="0"/>
                </a:lnTo>
                <a:cubicBezTo>
                  <a:pt x="416416" y="0"/>
                  <a:pt x="431282" y="14865"/>
                  <a:pt x="431282" y="33176"/>
                </a:cubicBezTo>
                <a:lnTo>
                  <a:pt x="431282" y="174171"/>
                </a:lnTo>
                <a:cubicBezTo>
                  <a:pt x="431282" y="192494"/>
                  <a:pt x="416428" y="207347"/>
                  <a:pt x="398106" y="207347"/>
                </a:cubicBezTo>
                <a:lnTo>
                  <a:pt x="33176" y="207347"/>
                </a:lnTo>
                <a:cubicBezTo>
                  <a:pt x="14865" y="207347"/>
                  <a:pt x="0" y="192481"/>
                  <a:pt x="0" y="174171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8C00">
              <a:alpha val="20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439576" y="6543869"/>
            <a:ext cx="476898" cy="207347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Wk 1–2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39606" y="6577045"/>
            <a:ext cx="1098939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 + MX Ink SDK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2676719" y="6577045"/>
            <a:ext cx="136849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3447661" y="6543869"/>
            <a:ext cx="331755" cy="207347"/>
          </a:xfrm>
          <a:custGeom>
            <a:avLst/>
            <a:gdLst/>
            <a:ahLst/>
            <a:cxnLst/>
            <a:rect l="l" t="t" r="r" b="b"/>
            <a:pathLst>
              <a:path w="331755" h="207347">
                <a:moveTo>
                  <a:pt x="33176" y="0"/>
                </a:moveTo>
                <a:lnTo>
                  <a:pt x="298580" y="0"/>
                </a:lnTo>
                <a:cubicBezTo>
                  <a:pt x="316890" y="0"/>
                  <a:pt x="331755" y="14865"/>
                  <a:pt x="331755" y="33176"/>
                </a:cubicBezTo>
                <a:lnTo>
                  <a:pt x="331755" y="174171"/>
                </a:lnTo>
                <a:cubicBezTo>
                  <a:pt x="331755" y="192494"/>
                  <a:pt x="316902" y="207347"/>
                  <a:pt x="298580" y="207347"/>
                </a:cubicBezTo>
                <a:lnTo>
                  <a:pt x="33176" y="207347"/>
                </a:lnTo>
                <a:cubicBezTo>
                  <a:pt x="14865" y="207347"/>
                  <a:pt x="0" y="192481"/>
                  <a:pt x="0" y="174171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8C00">
              <a:alpha val="20000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3447661" y="6543869"/>
            <a:ext cx="377371" cy="207347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Wk 3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3847387" y="6577045"/>
            <a:ext cx="626188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Tissue Engine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5105335" y="6577045"/>
            <a:ext cx="136849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5876342" y="6543869"/>
            <a:ext cx="331755" cy="207347"/>
          </a:xfrm>
          <a:custGeom>
            <a:avLst/>
            <a:gdLst/>
            <a:ahLst/>
            <a:cxnLst/>
            <a:rect l="l" t="t" r="r" b="b"/>
            <a:pathLst>
              <a:path w="331755" h="207347">
                <a:moveTo>
                  <a:pt x="33176" y="0"/>
                </a:moveTo>
                <a:lnTo>
                  <a:pt x="298580" y="0"/>
                </a:lnTo>
                <a:cubicBezTo>
                  <a:pt x="316890" y="0"/>
                  <a:pt x="331755" y="14865"/>
                  <a:pt x="331755" y="33176"/>
                </a:cubicBezTo>
                <a:lnTo>
                  <a:pt x="331755" y="174171"/>
                </a:lnTo>
                <a:cubicBezTo>
                  <a:pt x="331755" y="192494"/>
                  <a:pt x="316902" y="207347"/>
                  <a:pt x="298580" y="207347"/>
                </a:cubicBezTo>
                <a:lnTo>
                  <a:pt x="33176" y="207347"/>
                </a:lnTo>
                <a:cubicBezTo>
                  <a:pt x="14865" y="207347"/>
                  <a:pt x="0" y="192481"/>
                  <a:pt x="0" y="174171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8C00">
              <a:alpha val="20000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5876342" y="6543869"/>
            <a:ext cx="377371" cy="207347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Wk 4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6276068" y="6577045"/>
            <a:ext cx="634482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AXON System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7543865" y="6577045"/>
            <a:ext cx="136849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8314871" y="6543869"/>
            <a:ext cx="331755" cy="207347"/>
          </a:xfrm>
          <a:custGeom>
            <a:avLst/>
            <a:gdLst/>
            <a:ahLst/>
            <a:cxnLst/>
            <a:rect l="l" t="t" r="r" b="b"/>
            <a:pathLst>
              <a:path w="331755" h="207347">
                <a:moveTo>
                  <a:pt x="33176" y="0"/>
                </a:moveTo>
                <a:lnTo>
                  <a:pt x="298580" y="0"/>
                </a:lnTo>
                <a:cubicBezTo>
                  <a:pt x="316890" y="0"/>
                  <a:pt x="331755" y="14865"/>
                  <a:pt x="331755" y="33176"/>
                </a:cubicBezTo>
                <a:lnTo>
                  <a:pt x="331755" y="174171"/>
                </a:lnTo>
                <a:cubicBezTo>
                  <a:pt x="331755" y="192494"/>
                  <a:pt x="316902" y="207347"/>
                  <a:pt x="298580" y="207347"/>
                </a:cubicBezTo>
                <a:lnTo>
                  <a:pt x="33176" y="207347"/>
                </a:lnTo>
                <a:cubicBezTo>
                  <a:pt x="14865" y="207347"/>
                  <a:pt x="0" y="192481"/>
                  <a:pt x="0" y="174171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8C00">
              <a:alpha val="20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8314871" y="6543869"/>
            <a:ext cx="377371" cy="207347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Wk 5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8714597" y="6577045"/>
            <a:ext cx="642776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Procedure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9987643" y="6577045"/>
            <a:ext cx="136849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10758649" y="6543869"/>
            <a:ext cx="331755" cy="207347"/>
          </a:xfrm>
          <a:custGeom>
            <a:avLst/>
            <a:gdLst/>
            <a:ahLst/>
            <a:cxnLst/>
            <a:rect l="l" t="t" r="r" b="b"/>
            <a:pathLst>
              <a:path w="331755" h="207347">
                <a:moveTo>
                  <a:pt x="33176" y="0"/>
                </a:moveTo>
                <a:lnTo>
                  <a:pt x="298580" y="0"/>
                </a:lnTo>
                <a:cubicBezTo>
                  <a:pt x="316890" y="0"/>
                  <a:pt x="331755" y="14865"/>
                  <a:pt x="331755" y="33176"/>
                </a:cubicBezTo>
                <a:lnTo>
                  <a:pt x="331755" y="174171"/>
                </a:lnTo>
                <a:cubicBezTo>
                  <a:pt x="331755" y="192494"/>
                  <a:pt x="316902" y="207347"/>
                  <a:pt x="298580" y="207347"/>
                </a:cubicBezTo>
                <a:lnTo>
                  <a:pt x="33176" y="207347"/>
                </a:lnTo>
                <a:cubicBezTo>
                  <a:pt x="14865" y="207347"/>
                  <a:pt x="0" y="192481"/>
                  <a:pt x="0" y="174171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8C00">
              <a:alpha val="20000"/>
            </a:srgbClr>
          </a:solidFill>
          <a:ln/>
        </p:spPr>
      </p:sp>
      <p:sp>
        <p:nvSpPr>
          <p:cNvPr id="81" name="Text 78"/>
          <p:cNvSpPr/>
          <p:nvPr/>
        </p:nvSpPr>
        <p:spPr>
          <a:xfrm>
            <a:off x="10758649" y="6543869"/>
            <a:ext cx="377371" cy="207347"/>
          </a:xfrm>
          <a:prstGeom prst="rect">
            <a:avLst/>
          </a:prstGeom>
          <a:noFill/>
          <a:ln/>
        </p:spPr>
        <p:txBody>
          <a:bodyPr wrap="square" lIns="66351" tIns="33176" rIns="66351" bIns="33176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8C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Wk 6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11158376" y="6577045"/>
            <a:ext cx="642776" cy="14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Polish + Demo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539" y="345138"/>
            <a:ext cx="11682921" cy="108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5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JUDGED ON FOUR CRITERIA.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854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DOMINANT ON ALL FOUR.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45138" y="1622149"/>
            <a:ext cx="5668892" cy="2148484"/>
          </a:xfrm>
          <a:custGeom>
            <a:avLst/>
            <a:gdLst/>
            <a:ahLst/>
            <a:cxnLst/>
            <a:rect l="l" t="t" r="r" b="b"/>
            <a:pathLst>
              <a:path w="5668892" h="2148484">
                <a:moveTo>
                  <a:pt x="0" y="0"/>
                </a:moveTo>
                <a:lnTo>
                  <a:pt x="5668892" y="0"/>
                </a:lnTo>
                <a:lnTo>
                  <a:pt x="5668892" y="2079453"/>
                </a:lnTo>
                <a:cubicBezTo>
                  <a:pt x="5668892" y="2117578"/>
                  <a:pt x="5637986" y="2148484"/>
                  <a:pt x="5599861" y="2148484"/>
                </a:cubicBezTo>
                <a:lnTo>
                  <a:pt x="69031" y="2148484"/>
                </a:lnTo>
                <a:cubicBezTo>
                  <a:pt x="30906" y="2148484"/>
                  <a:pt x="0" y="2117578"/>
                  <a:pt x="0" y="2079453"/>
                </a:cubicBezTo>
                <a:lnTo>
                  <a:pt x="0" y="0"/>
                </a:lnTo>
                <a:close/>
              </a:path>
            </a:pathLst>
          </a:custGeom>
          <a:solidFill>
            <a:srgbClr val="0A1525"/>
          </a:solidFill>
          <a:ln/>
        </p:spPr>
      </p:sp>
      <p:sp>
        <p:nvSpPr>
          <p:cNvPr id="4" name="Shape 2"/>
          <p:cNvSpPr/>
          <p:nvPr/>
        </p:nvSpPr>
        <p:spPr>
          <a:xfrm>
            <a:off x="345138" y="1622149"/>
            <a:ext cx="5668892" cy="34514"/>
          </a:xfrm>
          <a:custGeom>
            <a:avLst/>
            <a:gdLst/>
            <a:ahLst/>
            <a:cxnLst/>
            <a:rect l="l" t="t" r="r" b="b"/>
            <a:pathLst>
              <a:path w="5668892" h="34514">
                <a:moveTo>
                  <a:pt x="0" y="0"/>
                </a:moveTo>
                <a:lnTo>
                  <a:pt x="5668892" y="0"/>
                </a:lnTo>
                <a:lnTo>
                  <a:pt x="5668892" y="34514"/>
                </a:lnTo>
                <a:lnTo>
                  <a:pt x="0" y="34514"/>
                </a:lnTo>
                <a:lnTo>
                  <a:pt x="0" y="0"/>
                </a:ln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552221" y="1846488"/>
            <a:ext cx="517707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7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4875" y="1898259"/>
            <a:ext cx="897359" cy="25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4875" y="2191626"/>
            <a:ext cx="811074" cy="17257"/>
          </a:xfrm>
          <a:custGeom>
            <a:avLst/>
            <a:gdLst/>
            <a:ahLst/>
            <a:cxnLst/>
            <a:rect l="l" t="t" r="r" b="b"/>
            <a:pathLst>
              <a:path w="811074" h="17257">
                <a:moveTo>
                  <a:pt x="0" y="0"/>
                </a:moveTo>
                <a:lnTo>
                  <a:pt x="811074" y="0"/>
                </a:lnTo>
                <a:lnTo>
                  <a:pt x="811074" y="17257"/>
                </a:lnTo>
                <a:lnTo>
                  <a:pt x="0" y="17257"/>
                </a:lnTo>
                <a:lnTo>
                  <a:pt x="0" y="0"/>
                </a:lnTo>
                <a:close/>
              </a:path>
            </a:pathLst>
          </a:custGeom>
          <a:solidFill>
            <a:srgbClr val="01F5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52221" y="2364195"/>
            <a:ext cx="5375524" cy="3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2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⭐⭐⭐⭐⭐ 10/10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2221" y="2830132"/>
            <a:ext cx="5319439" cy="42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"Zero direct competitors combine pressure-sensitive stylus input with AI pathophysiology and collaborative MR neurosurgery.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2221" y="3354310"/>
            <a:ext cx="5323754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are the only one."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3700" y="1622149"/>
            <a:ext cx="5668892" cy="2148484"/>
          </a:xfrm>
          <a:custGeom>
            <a:avLst/>
            <a:gdLst/>
            <a:ahLst/>
            <a:cxnLst/>
            <a:rect l="l" t="t" r="r" b="b"/>
            <a:pathLst>
              <a:path w="5668892" h="2148484">
                <a:moveTo>
                  <a:pt x="0" y="0"/>
                </a:moveTo>
                <a:lnTo>
                  <a:pt x="5668892" y="0"/>
                </a:lnTo>
                <a:lnTo>
                  <a:pt x="5668892" y="2079453"/>
                </a:lnTo>
                <a:cubicBezTo>
                  <a:pt x="5668892" y="2117578"/>
                  <a:pt x="5637986" y="2148484"/>
                  <a:pt x="5599861" y="2148484"/>
                </a:cubicBezTo>
                <a:lnTo>
                  <a:pt x="69031" y="2148484"/>
                </a:lnTo>
                <a:cubicBezTo>
                  <a:pt x="30906" y="2148484"/>
                  <a:pt x="0" y="2117578"/>
                  <a:pt x="0" y="2079453"/>
                </a:cubicBezTo>
                <a:lnTo>
                  <a:pt x="0" y="0"/>
                </a:lnTo>
                <a:close/>
              </a:path>
            </a:pathLst>
          </a:custGeom>
          <a:solidFill>
            <a:srgbClr val="1A0A0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3700" y="1622149"/>
            <a:ext cx="5668892" cy="34514"/>
          </a:xfrm>
          <a:custGeom>
            <a:avLst/>
            <a:gdLst/>
            <a:ahLst/>
            <a:cxnLst/>
            <a:rect l="l" t="t" r="r" b="b"/>
            <a:pathLst>
              <a:path w="5668892" h="34514">
                <a:moveTo>
                  <a:pt x="0" y="0"/>
                </a:moveTo>
                <a:lnTo>
                  <a:pt x="5668892" y="0"/>
                </a:lnTo>
                <a:lnTo>
                  <a:pt x="5668892" y="34514"/>
                </a:lnTo>
                <a:lnTo>
                  <a:pt x="0" y="34514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13" name="Text 11"/>
          <p:cNvSpPr/>
          <p:nvPr/>
        </p:nvSpPr>
        <p:spPr>
          <a:xfrm>
            <a:off x="6390783" y="1846488"/>
            <a:ext cx="517707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7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3437" y="1898259"/>
            <a:ext cx="750675" cy="25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73437" y="2191626"/>
            <a:ext cx="664391" cy="17257"/>
          </a:xfrm>
          <a:custGeom>
            <a:avLst/>
            <a:gdLst/>
            <a:ahLst/>
            <a:cxnLst/>
            <a:rect l="l" t="t" r="r" b="b"/>
            <a:pathLst>
              <a:path w="664391" h="17257">
                <a:moveTo>
                  <a:pt x="0" y="0"/>
                </a:moveTo>
                <a:lnTo>
                  <a:pt x="664391" y="0"/>
                </a:lnTo>
                <a:lnTo>
                  <a:pt x="664391" y="17257"/>
                </a:lnTo>
                <a:lnTo>
                  <a:pt x="0" y="17257"/>
                </a:lnTo>
                <a:lnTo>
                  <a:pt x="0" y="0"/>
                </a:lnTo>
                <a:close/>
              </a:path>
            </a:pathLst>
          </a:custGeom>
          <a:solidFill>
            <a:srgbClr val="FF3366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90783" y="2364195"/>
            <a:ext cx="5375524" cy="3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2" b="1" dirty="0">
                <a:solidFill>
                  <a:srgbClr val="FF33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⭐⭐⭐⭐⭐ 10/10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783" y="2830132"/>
            <a:ext cx="5319439" cy="42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"Addresses 250,000 preventable deaths annually. Reaches every medical school on Earth.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90783" y="3354310"/>
            <a:ext cx="5323754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33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is a mission, not a product."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5138" y="3958301"/>
            <a:ext cx="5668892" cy="2148484"/>
          </a:xfrm>
          <a:custGeom>
            <a:avLst/>
            <a:gdLst/>
            <a:ahLst/>
            <a:cxnLst/>
            <a:rect l="l" t="t" r="r" b="b"/>
            <a:pathLst>
              <a:path w="5668892" h="2148484">
                <a:moveTo>
                  <a:pt x="0" y="0"/>
                </a:moveTo>
                <a:lnTo>
                  <a:pt x="5668892" y="0"/>
                </a:lnTo>
                <a:lnTo>
                  <a:pt x="5668892" y="2079453"/>
                </a:lnTo>
                <a:cubicBezTo>
                  <a:pt x="5668892" y="2117578"/>
                  <a:pt x="5637986" y="2148484"/>
                  <a:pt x="5599861" y="2148484"/>
                </a:cubicBezTo>
                <a:lnTo>
                  <a:pt x="69031" y="2148484"/>
                </a:lnTo>
                <a:cubicBezTo>
                  <a:pt x="30906" y="2148484"/>
                  <a:pt x="0" y="2117578"/>
                  <a:pt x="0" y="2079453"/>
                </a:cubicBezTo>
                <a:lnTo>
                  <a:pt x="0" y="0"/>
                </a:lnTo>
                <a:close/>
              </a:path>
            </a:pathLst>
          </a:custGeom>
          <a:solidFill>
            <a:srgbClr val="0A1A0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5138" y="3958301"/>
            <a:ext cx="5668892" cy="34514"/>
          </a:xfrm>
          <a:custGeom>
            <a:avLst/>
            <a:gdLst/>
            <a:ahLst/>
            <a:cxnLst/>
            <a:rect l="l" t="t" r="r" b="b"/>
            <a:pathLst>
              <a:path w="5668892" h="34514">
                <a:moveTo>
                  <a:pt x="0" y="0"/>
                </a:moveTo>
                <a:lnTo>
                  <a:pt x="5668892" y="0"/>
                </a:lnTo>
                <a:lnTo>
                  <a:pt x="5668892" y="34514"/>
                </a:lnTo>
                <a:lnTo>
                  <a:pt x="0" y="34514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21" y="4182641"/>
            <a:ext cx="517707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7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4875" y="4234412"/>
            <a:ext cx="923244" cy="25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VIABILITY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34875" y="4527779"/>
            <a:ext cx="836960" cy="17257"/>
          </a:xfrm>
          <a:custGeom>
            <a:avLst/>
            <a:gdLst/>
            <a:ahLst/>
            <a:cxnLst/>
            <a:rect l="l" t="t" r="r" b="b"/>
            <a:pathLst>
              <a:path w="836960" h="17257">
                <a:moveTo>
                  <a:pt x="0" y="0"/>
                </a:moveTo>
                <a:lnTo>
                  <a:pt x="836960" y="0"/>
                </a:lnTo>
                <a:lnTo>
                  <a:pt x="836960" y="17257"/>
                </a:lnTo>
                <a:lnTo>
                  <a:pt x="0" y="17257"/>
                </a:lnTo>
                <a:lnTo>
                  <a:pt x="0" y="0"/>
                </a:lnTo>
                <a:close/>
              </a:path>
            </a:pathLst>
          </a:custGeom>
          <a:solidFill>
            <a:srgbClr val="01FF88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52221" y="4700348"/>
            <a:ext cx="5375524" cy="3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2" b="1" dirty="0">
                <a:solidFill>
                  <a:srgbClr val="00FF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⭐⭐⭐⭐½ 9/10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2221" y="5166285"/>
            <a:ext cx="5319439" cy="42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"Multi-tier SaaS. B2B institutional anchoring. Pharma as enterprise safety net. $11.45M ARR Year 3.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2221" y="5690463"/>
            <a:ext cx="5323754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00FF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Five revenue streams. Low churn."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3700" y="3958301"/>
            <a:ext cx="5668892" cy="2148484"/>
          </a:xfrm>
          <a:custGeom>
            <a:avLst/>
            <a:gdLst/>
            <a:ahLst/>
            <a:cxnLst/>
            <a:rect l="l" t="t" r="r" b="b"/>
            <a:pathLst>
              <a:path w="5668892" h="2148484">
                <a:moveTo>
                  <a:pt x="0" y="0"/>
                </a:moveTo>
                <a:lnTo>
                  <a:pt x="5668892" y="0"/>
                </a:lnTo>
                <a:lnTo>
                  <a:pt x="5668892" y="2079453"/>
                </a:lnTo>
                <a:cubicBezTo>
                  <a:pt x="5668892" y="2117578"/>
                  <a:pt x="5637986" y="2148484"/>
                  <a:pt x="5599861" y="2148484"/>
                </a:cubicBezTo>
                <a:lnTo>
                  <a:pt x="69031" y="2148484"/>
                </a:lnTo>
                <a:cubicBezTo>
                  <a:pt x="30906" y="2148484"/>
                  <a:pt x="0" y="2117578"/>
                  <a:pt x="0" y="2079453"/>
                </a:cubicBezTo>
                <a:lnTo>
                  <a:pt x="0" y="0"/>
                </a:lnTo>
                <a:close/>
              </a:path>
            </a:pathLst>
          </a:custGeom>
          <a:solidFill>
            <a:srgbClr val="1A0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3700" y="3958301"/>
            <a:ext cx="5668892" cy="34514"/>
          </a:xfrm>
          <a:custGeom>
            <a:avLst/>
            <a:gdLst/>
            <a:ahLst/>
            <a:cxnLst/>
            <a:rect l="l" t="t" r="r" b="b"/>
            <a:pathLst>
              <a:path w="5668892" h="34514">
                <a:moveTo>
                  <a:pt x="0" y="0"/>
                </a:moveTo>
                <a:lnTo>
                  <a:pt x="5668892" y="0"/>
                </a:lnTo>
                <a:lnTo>
                  <a:pt x="5668892" y="34514"/>
                </a:lnTo>
                <a:lnTo>
                  <a:pt x="0" y="34514"/>
                </a:lnTo>
                <a:lnTo>
                  <a:pt x="0" y="0"/>
                </a:lnTo>
                <a:close/>
              </a:path>
            </a:pathLst>
          </a:custGeom>
          <a:solidFill>
            <a:srgbClr val="7B2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390783" y="4182641"/>
            <a:ext cx="517707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17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73437" y="4234412"/>
            <a:ext cx="1130327" cy="25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UX QUALITY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73437" y="4527779"/>
            <a:ext cx="1044042" cy="17257"/>
          </a:xfrm>
          <a:custGeom>
            <a:avLst/>
            <a:gdLst/>
            <a:ahLst/>
            <a:cxnLst/>
            <a:rect l="l" t="t" r="r" b="b"/>
            <a:pathLst>
              <a:path w="1044042" h="17257">
                <a:moveTo>
                  <a:pt x="0" y="0"/>
                </a:moveTo>
                <a:lnTo>
                  <a:pt x="1044042" y="0"/>
                </a:lnTo>
                <a:lnTo>
                  <a:pt x="1044042" y="17257"/>
                </a:lnTo>
                <a:lnTo>
                  <a:pt x="0" y="17257"/>
                </a:lnTo>
                <a:lnTo>
                  <a:pt x="0" y="0"/>
                </a:lnTo>
                <a:close/>
              </a:path>
            </a:pathLst>
          </a:custGeom>
          <a:solidFill>
            <a:srgbClr val="7B2FFF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90783" y="4700348"/>
            <a:ext cx="5375524" cy="3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2" b="1" dirty="0">
                <a:solidFill>
                  <a:srgbClr val="7B2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⭐⭐⭐⭐⭐ 10/10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90783" y="5166285"/>
            <a:ext cx="5319439" cy="42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"Every interaction is MX Ink native. The stylus is not an accessory.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90783" y="5690463"/>
            <a:ext cx="5323754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IS the entire product."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5138" y="6285826"/>
            <a:ext cx="11501724" cy="569478"/>
          </a:xfrm>
          <a:custGeom>
            <a:avLst/>
            <a:gdLst/>
            <a:ahLst/>
            <a:cxnLst/>
            <a:rect l="l" t="t" r="r" b="b"/>
            <a:pathLst>
              <a:path w="11501724" h="569478">
                <a:moveTo>
                  <a:pt x="0" y="0"/>
                </a:moveTo>
                <a:lnTo>
                  <a:pt x="11501724" y="0"/>
                </a:lnTo>
                <a:lnTo>
                  <a:pt x="11501724" y="569478"/>
                </a:lnTo>
                <a:lnTo>
                  <a:pt x="0" y="5694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5138" y="6285826"/>
            <a:ext cx="11501724" cy="17257"/>
          </a:xfrm>
          <a:custGeom>
            <a:avLst/>
            <a:gdLst/>
            <a:ahLst/>
            <a:cxnLst/>
            <a:rect l="l" t="t" r="r" b="b"/>
            <a:pathLst>
              <a:path w="11501724" h="17257">
                <a:moveTo>
                  <a:pt x="0" y="0"/>
                </a:moveTo>
                <a:lnTo>
                  <a:pt x="11501724" y="0"/>
                </a:lnTo>
                <a:lnTo>
                  <a:pt x="11501724" y="17257"/>
                </a:lnTo>
                <a:lnTo>
                  <a:pt x="0" y="17257"/>
                </a:lnTo>
                <a:lnTo>
                  <a:pt x="0" y="0"/>
                </a:lnTo>
                <a:close/>
              </a:path>
            </a:pathLst>
          </a:custGeom>
          <a:solidFill>
            <a:srgbClr val="00F5FF"/>
          </a:solidFill>
          <a:ln/>
        </p:spPr>
      </p:sp>
      <p:sp>
        <p:nvSpPr>
          <p:cNvPr id="37" name="Text 35"/>
          <p:cNvSpPr/>
          <p:nvPr/>
        </p:nvSpPr>
        <p:spPr>
          <a:xfrm>
            <a:off x="504764" y="6432510"/>
            <a:ext cx="11182471" cy="284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5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"Every other medical XR app gave surgeons a game controller. We gave them a scalpel."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A0A1A"/>
          </a:solidFill>
          <a:ln/>
        </p:spPr>
      </p:sp>
      <p:pic>
        <p:nvPicPr>
          <p:cNvPr id="3" name="Image 0" descr="https://kimi-web-img.moonshot.cn/img/png.pngtree.com/e6dbf92b13e4d2b4748d0f6211fe80bd6800fc1a.webp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25741" r="25741" t="0" b="0"/>
          <a:stretch/>
        </p:blipFill>
        <p:spPr>
          <a:xfrm>
            <a:off x="6096000" y="0"/>
            <a:ext cx="6096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A1A"/>
              </a:gs>
              <a:gs pos="50000">
                <a:srgbClr val="0A0A1A">
                  <a:alpha val="80000"/>
                </a:srgbClr>
              </a:gs>
              <a:gs pos="100000">
                <a:srgbClr val="0A0A1A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4853609" y="2186609"/>
            <a:ext cx="2484783" cy="2484783"/>
          </a:xfrm>
          <a:custGeom>
            <a:avLst/>
            <a:gdLst/>
            <a:ahLst/>
            <a:cxnLst/>
            <a:rect l="l" t="t" r="r" b="b"/>
            <a:pathLst>
              <a:path w="2484783" h="2484783">
                <a:moveTo>
                  <a:pt x="1242391" y="0"/>
                </a:moveTo>
                <a:lnTo>
                  <a:pt x="1242391" y="0"/>
                </a:lnTo>
                <a:cubicBezTo>
                  <a:pt x="1928086" y="0"/>
                  <a:pt x="2484783" y="556697"/>
                  <a:pt x="2484783" y="1242391"/>
                </a:cubicBezTo>
                <a:lnTo>
                  <a:pt x="2484783" y="1242391"/>
                </a:lnTo>
                <a:cubicBezTo>
                  <a:pt x="2484783" y="1928086"/>
                  <a:pt x="1928086" y="2484783"/>
                  <a:pt x="1242391" y="2484783"/>
                </a:cubicBezTo>
                <a:lnTo>
                  <a:pt x="1242391" y="2484783"/>
                </a:lnTo>
                <a:cubicBezTo>
                  <a:pt x="556697" y="2484783"/>
                  <a:pt x="0" y="1928086"/>
                  <a:pt x="0" y="1242391"/>
                </a:cubicBezTo>
                <a:lnTo>
                  <a:pt x="0" y="1242391"/>
                </a:lnTo>
                <a:cubicBezTo>
                  <a:pt x="0" y="556697"/>
                  <a:pt x="556697" y="0"/>
                  <a:pt x="124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F5FF">
                  <a:alpha val="30000"/>
                </a:srgbClr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6" name="Shape 3"/>
          <p:cNvSpPr/>
          <p:nvPr/>
        </p:nvSpPr>
        <p:spPr>
          <a:xfrm>
            <a:off x="4043272" y="-449332"/>
            <a:ext cx="4108174" cy="4414630"/>
          </a:xfrm>
          <a:custGeom>
            <a:avLst/>
            <a:gdLst/>
            <a:ahLst/>
            <a:cxnLst/>
            <a:rect l="l" t="t" r="r" b="b"/>
            <a:pathLst>
              <a:path w="4108174" h="4414630">
                <a:moveTo>
                  <a:pt x="132530" y="0"/>
                </a:moveTo>
                <a:lnTo>
                  <a:pt x="3975644" y="0"/>
                </a:lnTo>
                <a:cubicBezTo>
                  <a:pt x="4048838" y="0"/>
                  <a:pt x="4108174" y="59336"/>
                  <a:pt x="4108174" y="132530"/>
                </a:cubicBezTo>
                <a:lnTo>
                  <a:pt x="4108174" y="4282101"/>
                </a:lnTo>
                <a:cubicBezTo>
                  <a:pt x="4108174" y="4355295"/>
                  <a:pt x="4048838" y="4414630"/>
                  <a:pt x="3975644" y="4414630"/>
                </a:cubicBezTo>
                <a:lnTo>
                  <a:pt x="132530" y="4414630"/>
                </a:lnTo>
                <a:cubicBezTo>
                  <a:pt x="59336" y="4414630"/>
                  <a:pt x="0" y="4355295"/>
                  <a:pt x="0" y="4282101"/>
                </a:cubicBezTo>
                <a:lnTo>
                  <a:pt x="0" y="132530"/>
                </a:lnTo>
                <a:cubicBezTo>
                  <a:pt x="0" y="59385"/>
                  <a:pt x="59385" y="0"/>
                  <a:pt x="132530" y="0"/>
                </a:cubicBezTo>
                <a:close/>
              </a:path>
            </a:pathLst>
          </a:custGeom>
          <a:solidFill>
            <a:srgbClr val="0A0A1A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66902" y="-184288"/>
            <a:ext cx="3660913" cy="728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30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medical student in rural Nigeria.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30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resident at Johns Hopkins.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66902" y="743364"/>
            <a:ext cx="3660913" cy="109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30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Practicing the same procedure.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30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the same holographic brain.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30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Guided by the same AI mentor.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71044" y="2035451"/>
            <a:ext cx="3652630" cy="223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the first time —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21348" y="2391603"/>
            <a:ext cx="3752022" cy="130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39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zip code does not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739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determine surgical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739" b="1" dirty="0">
                <a:solidFill>
                  <a:srgbClr val="00F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competence.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54457" y="4234484"/>
            <a:ext cx="2633870" cy="1838739"/>
          </a:xfrm>
          <a:custGeom>
            <a:avLst/>
            <a:gdLst/>
            <a:ahLst/>
            <a:cxnLst/>
            <a:rect l="l" t="t" r="r" b="b"/>
            <a:pathLst>
              <a:path w="2633870" h="1838739">
                <a:moveTo>
                  <a:pt x="66268" y="0"/>
                </a:moveTo>
                <a:lnTo>
                  <a:pt x="2567601" y="0"/>
                </a:lnTo>
                <a:cubicBezTo>
                  <a:pt x="2604200" y="0"/>
                  <a:pt x="2633870" y="29669"/>
                  <a:pt x="2633870" y="66268"/>
                </a:cubicBezTo>
                <a:lnTo>
                  <a:pt x="2633870" y="1772471"/>
                </a:lnTo>
                <a:cubicBezTo>
                  <a:pt x="2633870" y="1809070"/>
                  <a:pt x="2604200" y="1838739"/>
                  <a:pt x="2567601" y="1838739"/>
                </a:cubicBezTo>
                <a:lnTo>
                  <a:pt x="66268" y="1838739"/>
                </a:lnTo>
                <a:cubicBezTo>
                  <a:pt x="29669" y="1838739"/>
                  <a:pt x="0" y="1809070"/>
                  <a:pt x="0" y="1772471"/>
                </a:cubicBezTo>
                <a:lnTo>
                  <a:pt x="0" y="66268"/>
                </a:lnTo>
                <a:cubicBezTo>
                  <a:pt x="0" y="29669"/>
                  <a:pt x="29669" y="0"/>
                  <a:pt x="66268" y="0"/>
                </a:cubicBezTo>
                <a:close/>
              </a:path>
            </a:pathLst>
          </a:custGeom>
          <a:solidFill>
            <a:srgbClr val="1A0A2A"/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8391" y="4408418"/>
            <a:ext cx="2335696" cy="14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3" b="1" spc="39" kern="0" dirty="0">
                <a:solidFill>
                  <a:srgbClr val="7B2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WE'RE ASKING FOR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28391" y="4656897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10609" y="4656897"/>
            <a:ext cx="911087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50 selection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28391" y="4897092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10609" y="4897092"/>
            <a:ext cx="1946413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Logitech MX Ink + Quest 3 hardware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28391" y="5137288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10609" y="5137288"/>
            <a:ext cx="1391478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mentorship access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28391" y="5377484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710609" y="5377484"/>
            <a:ext cx="2037522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weeks to build the future of medicine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03674" y="4234484"/>
            <a:ext cx="2633870" cy="1838739"/>
          </a:xfrm>
          <a:custGeom>
            <a:avLst/>
            <a:gdLst/>
            <a:ahLst/>
            <a:cxnLst/>
            <a:rect l="l" t="t" r="r" b="b"/>
            <a:pathLst>
              <a:path w="2633870" h="1838739">
                <a:moveTo>
                  <a:pt x="66268" y="0"/>
                </a:moveTo>
                <a:lnTo>
                  <a:pt x="2567601" y="0"/>
                </a:lnTo>
                <a:cubicBezTo>
                  <a:pt x="2604200" y="0"/>
                  <a:pt x="2633870" y="29669"/>
                  <a:pt x="2633870" y="66268"/>
                </a:cubicBezTo>
                <a:lnTo>
                  <a:pt x="2633870" y="1772471"/>
                </a:lnTo>
                <a:cubicBezTo>
                  <a:pt x="2633870" y="1809070"/>
                  <a:pt x="2604200" y="1838739"/>
                  <a:pt x="2567601" y="1838739"/>
                </a:cubicBezTo>
                <a:lnTo>
                  <a:pt x="66268" y="1838739"/>
                </a:lnTo>
                <a:cubicBezTo>
                  <a:pt x="29669" y="1838739"/>
                  <a:pt x="0" y="1809070"/>
                  <a:pt x="0" y="1772471"/>
                </a:cubicBezTo>
                <a:lnTo>
                  <a:pt x="0" y="66268"/>
                </a:lnTo>
                <a:cubicBezTo>
                  <a:pt x="0" y="29669"/>
                  <a:pt x="29669" y="0"/>
                  <a:pt x="66268" y="0"/>
                </a:cubicBezTo>
                <a:close/>
              </a:path>
            </a:pathLst>
          </a:custGeom>
          <a:solidFill>
            <a:srgbClr val="0A1A2A"/>
          </a:solidFill>
          <a:ln w="25400">
            <a:solidFill>
              <a:srgbClr val="00F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7609" y="4408418"/>
            <a:ext cx="2335696" cy="14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3" b="1" spc="39" kern="0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LOGITECH GAINS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77609" y="4743864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59826" y="4656897"/>
            <a:ext cx="2161761" cy="34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defining medical use case for MX Ink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77609" y="5071027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59826" y="5071027"/>
            <a:ext cx="2120348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Reach into 40M+ users via med schools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77609" y="5398190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59826" y="5311223"/>
            <a:ext cx="2161761" cy="34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partnership that literally saves human lives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77609" y="5725353"/>
            <a:ext cx="173935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59826" y="5725353"/>
            <a:ext cx="1962978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story that defines MX Ink forever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65043" y="6346549"/>
            <a:ext cx="11661913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87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NeuroSketch XR 2.0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94033" y="6810375"/>
            <a:ext cx="11603935" cy="223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00F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"Train like a surgeon. Think like a scientist. Save lives."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02315" y="7133397"/>
            <a:ext cx="11587370" cy="17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13" dirty="0">
                <a:solidFill>
                  <a:srgbClr val="A0A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[Team Name] | [Email] | [DevPost Profile URL]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NeuroSketch XR 2.0</dc:title>
  <dc:subject>NeuroSketch XR 2.0</dc:subject>
  <dc:creator>Kimi</dc:creator>
  <cp:lastModifiedBy>Kimi</cp:lastModifiedBy>
  <cp:revision>1</cp:revision>
  <dcterms:created xsi:type="dcterms:W3CDTF">2026-02-25T15:05:32Z</dcterms:created>
  <dcterms:modified xsi:type="dcterms:W3CDTF">2026-02-25T15:05:32Z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{"Label":"NeuroSketch XR 2.0","ContentProducer":"001191110108MACG2KBH8F10000","ProduceID":"19c95457-b4b2-8222-8000-0000cab4a242","ReservedCode1":"","ContentPropagator":"001191110108MACG2KBH8F20000","PropagateID":"19c95457-b4b2-8222-8000-0000cab4a242","ReservedCode2":""}</vt:lpwstr>
  </property>
</Properties>
</file>